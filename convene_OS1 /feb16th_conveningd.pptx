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9" r:id="rId4"/>
    <p:sldId id="260" r:id="rId5"/>
    <p:sldId id="258" r:id="rId6"/>
    <p:sldId id="261" r:id="rId7"/>
    <p:sldId id="281" r:id="rId8"/>
    <p:sldId id="271" r:id="rId9"/>
    <p:sldId id="268" r:id="rId10"/>
    <p:sldId id="269" r:id="rId11"/>
    <p:sldId id="270" r:id="rId12"/>
    <p:sldId id="272" r:id="rId13"/>
    <p:sldId id="262" r:id="rId14"/>
    <p:sldId id="282" r:id="rId15"/>
    <p:sldId id="283" r:id="rId16"/>
    <p:sldId id="273" r:id="rId17"/>
    <p:sldId id="263" r:id="rId18"/>
    <p:sldId id="280" r:id="rId19"/>
    <p:sldId id="284" r:id="rId20"/>
    <p:sldId id="285" r:id="rId21"/>
    <p:sldId id="274" r:id="rId22"/>
    <p:sldId id="275" r:id="rId23"/>
    <p:sldId id="264" r:id="rId24"/>
    <p:sldId id="276" r:id="rId25"/>
    <p:sldId id="265" r:id="rId26"/>
    <p:sldId id="286" r:id="rId27"/>
    <p:sldId id="287" r:id="rId28"/>
    <p:sldId id="288" r:id="rId29"/>
    <p:sldId id="289" r:id="rId30"/>
    <p:sldId id="277" r:id="rId31"/>
    <p:sldId id="278" r:id="rId32"/>
    <p:sldId id="279" r:id="rId33"/>
    <p:sldId id="266" r:id="rId34"/>
    <p:sldId id="267" r:id="rId35"/>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6327"/>
  </p:normalViewPr>
  <p:slideViewPr>
    <p:cSldViewPr snapToGrid="0">
      <p:cViewPr varScale="1">
        <p:scale>
          <a:sx n="123" d="100"/>
          <a:sy n="123" d="100"/>
        </p:scale>
        <p:origin x="69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F1A89D-2644-1840-ADAC-3C494F235821}" type="doc">
      <dgm:prSet loTypeId="urn:microsoft.com/office/officeart/2005/8/layout/cycle7" loCatId="" qsTypeId="urn:microsoft.com/office/officeart/2005/8/quickstyle/simple1" qsCatId="simple" csTypeId="urn:microsoft.com/office/officeart/2005/8/colors/accent1_2" csCatId="accent1" phldr="1"/>
      <dgm:spPr/>
      <dgm:t>
        <a:bodyPr/>
        <a:lstStyle/>
        <a:p>
          <a:endParaRPr lang="en-GB"/>
        </a:p>
      </dgm:t>
    </dgm:pt>
    <dgm:pt modelId="{BD830819-202C-DA4F-8BEE-358578C808A7}">
      <dgm:prSet phldrT="[Text]"/>
      <dgm:spPr/>
      <dgm:t>
        <a:bodyPr/>
        <a:lstStyle/>
        <a:p>
          <a:r>
            <a:rPr lang="en-GB" dirty="0"/>
            <a:t>Justice (disparity)</a:t>
          </a:r>
        </a:p>
      </dgm:t>
    </dgm:pt>
    <dgm:pt modelId="{F235A10B-BA01-DC42-B566-A1F9F58D9BFC}" type="parTrans" cxnId="{E714D802-BBFC-C142-86E8-B1D60B888684}">
      <dgm:prSet/>
      <dgm:spPr/>
      <dgm:t>
        <a:bodyPr/>
        <a:lstStyle/>
        <a:p>
          <a:endParaRPr lang="en-GB"/>
        </a:p>
      </dgm:t>
    </dgm:pt>
    <dgm:pt modelId="{FBB4D0FF-DB13-B943-BBC9-E4A6F6C8CD0D}" type="sibTrans" cxnId="{E714D802-BBFC-C142-86E8-B1D60B888684}">
      <dgm:prSet/>
      <dgm:spPr/>
      <dgm:t>
        <a:bodyPr/>
        <a:lstStyle/>
        <a:p>
          <a:endParaRPr lang="en-GB"/>
        </a:p>
      </dgm:t>
    </dgm:pt>
    <dgm:pt modelId="{F8E4C0A6-6BFC-0842-A07B-CFC72032089C}">
      <dgm:prSet phldrT="[Text]"/>
      <dgm:spPr/>
      <dgm:t>
        <a:bodyPr/>
        <a:lstStyle/>
        <a:p>
          <a:r>
            <a:rPr lang="en-GB" dirty="0"/>
            <a:t>Beauty (world as it should be)</a:t>
          </a:r>
        </a:p>
      </dgm:t>
    </dgm:pt>
    <dgm:pt modelId="{D47B636B-1114-EA4B-80A5-B1BF7412F722}" type="parTrans" cxnId="{2FC626E3-2B98-554A-84C6-ACDD92CB9757}">
      <dgm:prSet/>
      <dgm:spPr/>
      <dgm:t>
        <a:bodyPr/>
        <a:lstStyle/>
        <a:p>
          <a:endParaRPr lang="en-GB"/>
        </a:p>
      </dgm:t>
    </dgm:pt>
    <dgm:pt modelId="{A1FBB9B7-CC0A-8146-A8B6-62B683D4DDE3}" type="sibTrans" cxnId="{2FC626E3-2B98-554A-84C6-ACDD92CB9757}">
      <dgm:prSet/>
      <dgm:spPr/>
      <dgm:t>
        <a:bodyPr/>
        <a:lstStyle/>
        <a:p>
          <a:endParaRPr lang="en-GB"/>
        </a:p>
      </dgm:t>
    </dgm:pt>
    <dgm:pt modelId="{C3A932FD-A33A-EF4A-B5F8-738F56A101E0}">
      <dgm:prSet phldrT="[Text]"/>
      <dgm:spPr/>
      <dgm:t>
        <a:bodyPr/>
        <a:lstStyle/>
        <a:p>
          <a:r>
            <a:rPr lang="en-GB" dirty="0"/>
            <a:t>Truth (world as it is)</a:t>
          </a:r>
        </a:p>
      </dgm:t>
    </dgm:pt>
    <dgm:pt modelId="{42847912-8668-0C4A-9AC2-9124B9CE7B67}" type="parTrans" cxnId="{B8F57EF2-8D84-EA45-AEC0-B2B148A2A042}">
      <dgm:prSet/>
      <dgm:spPr/>
      <dgm:t>
        <a:bodyPr/>
        <a:lstStyle/>
        <a:p>
          <a:endParaRPr lang="en-GB"/>
        </a:p>
      </dgm:t>
    </dgm:pt>
    <dgm:pt modelId="{133307D1-48F3-D640-8BE4-1679261AFB29}" type="sibTrans" cxnId="{B8F57EF2-8D84-EA45-AEC0-B2B148A2A042}">
      <dgm:prSet/>
      <dgm:spPr/>
      <dgm:t>
        <a:bodyPr/>
        <a:lstStyle/>
        <a:p>
          <a:endParaRPr lang="en-GB"/>
        </a:p>
      </dgm:t>
    </dgm:pt>
    <dgm:pt modelId="{8A2328FF-1CDB-BB48-91A2-B165E86E3AA7}" type="pres">
      <dgm:prSet presAssocID="{A5F1A89D-2644-1840-ADAC-3C494F235821}" presName="Name0" presStyleCnt="0">
        <dgm:presLayoutVars>
          <dgm:dir/>
          <dgm:resizeHandles val="exact"/>
        </dgm:presLayoutVars>
      </dgm:prSet>
      <dgm:spPr/>
    </dgm:pt>
    <dgm:pt modelId="{ADD532E5-6C08-4141-A90A-A9880D256B28}" type="pres">
      <dgm:prSet presAssocID="{BD830819-202C-DA4F-8BEE-358578C808A7}" presName="node" presStyleLbl="node1" presStyleIdx="0" presStyleCnt="3">
        <dgm:presLayoutVars>
          <dgm:bulletEnabled val="1"/>
        </dgm:presLayoutVars>
      </dgm:prSet>
      <dgm:spPr/>
    </dgm:pt>
    <dgm:pt modelId="{E6645C40-004B-1542-8674-481C4880C27C}" type="pres">
      <dgm:prSet presAssocID="{FBB4D0FF-DB13-B943-BBC9-E4A6F6C8CD0D}" presName="sibTrans" presStyleLbl="sibTrans2D1" presStyleIdx="0" presStyleCnt="3"/>
      <dgm:spPr/>
    </dgm:pt>
    <dgm:pt modelId="{1668D144-2EC9-894B-B4DE-D6910A8667E4}" type="pres">
      <dgm:prSet presAssocID="{FBB4D0FF-DB13-B943-BBC9-E4A6F6C8CD0D}" presName="connectorText" presStyleLbl="sibTrans2D1" presStyleIdx="0" presStyleCnt="3"/>
      <dgm:spPr/>
    </dgm:pt>
    <dgm:pt modelId="{3F13A9FE-77EB-D84F-B706-50F9F89A347B}" type="pres">
      <dgm:prSet presAssocID="{F8E4C0A6-6BFC-0842-A07B-CFC72032089C}" presName="node" presStyleLbl="node1" presStyleIdx="1" presStyleCnt="3">
        <dgm:presLayoutVars>
          <dgm:bulletEnabled val="1"/>
        </dgm:presLayoutVars>
      </dgm:prSet>
      <dgm:spPr/>
    </dgm:pt>
    <dgm:pt modelId="{E2BF9541-7679-4F4C-BE39-A7AFA68429CE}" type="pres">
      <dgm:prSet presAssocID="{A1FBB9B7-CC0A-8146-A8B6-62B683D4DDE3}" presName="sibTrans" presStyleLbl="sibTrans2D1" presStyleIdx="1" presStyleCnt="3"/>
      <dgm:spPr/>
    </dgm:pt>
    <dgm:pt modelId="{DDD3E472-6291-054A-8283-6B1007B9CC0E}" type="pres">
      <dgm:prSet presAssocID="{A1FBB9B7-CC0A-8146-A8B6-62B683D4DDE3}" presName="connectorText" presStyleLbl="sibTrans2D1" presStyleIdx="1" presStyleCnt="3"/>
      <dgm:spPr/>
    </dgm:pt>
    <dgm:pt modelId="{E887964E-80E2-9549-B198-E7A0E06E09BF}" type="pres">
      <dgm:prSet presAssocID="{C3A932FD-A33A-EF4A-B5F8-738F56A101E0}" presName="node" presStyleLbl="node1" presStyleIdx="2" presStyleCnt="3">
        <dgm:presLayoutVars>
          <dgm:bulletEnabled val="1"/>
        </dgm:presLayoutVars>
      </dgm:prSet>
      <dgm:spPr/>
    </dgm:pt>
    <dgm:pt modelId="{EAC5CEA8-1CA4-D44B-B645-F297B090F7D6}" type="pres">
      <dgm:prSet presAssocID="{133307D1-48F3-D640-8BE4-1679261AFB29}" presName="sibTrans" presStyleLbl="sibTrans2D1" presStyleIdx="2" presStyleCnt="3"/>
      <dgm:spPr/>
    </dgm:pt>
    <dgm:pt modelId="{EF96ECC3-75D7-9B4C-BEAD-0206E48F33A3}" type="pres">
      <dgm:prSet presAssocID="{133307D1-48F3-D640-8BE4-1679261AFB29}" presName="connectorText" presStyleLbl="sibTrans2D1" presStyleIdx="2" presStyleCnt="3"/>
      <dgm:spPr/>
    </dgm:pt>
  </dgm:ptLst>
  <dgm:cxnLst>
    <dgm:cxn modelId="{3FB9E700-95C3-3B4A-8585-41A856DFE533}" type="presOf" srcId="{133307D1-48F3-D640-8BE4-1679261AFB29}" destId="{EF96ECC3-75D7-9B4C-BEAD-0206E48F33A3}" srcOrd="1" destOrd="0" presId="urn:microsoft.com/office/officeart/2005/8/layout/cycle7"/>
    <dgm:cxn modelId="{E714D802-BBFC-C142-86E8-B1D60B888684}" srcId="{A5F1A89D-2644-1840-ADAC-3C494F235821}" destId="{BD830819-202C-DA4F-8BEE-358578C808A7}" srcOrd="0" destOrd="0" parTransId="{F235A10B-BA01-DC42-B566-A1F9F58D9BFC}" sibTransId="{FBB4D0FF-DB13-B943-BBC9-E4A6F6C8CD0D}"/>
    <dgm:cxn modelId="{54D4F106-BC12-A34F-B2CB-BE2B4FF2F1FC}" type="presOf" srcId="{BD830819-202C-DA4F-8BEE-358578C808A7}" destId="{ADD532E5-6C08-4141-A90A-A9880D256B28}" srcOrd="0" destOrd="0" presId="urn:microsoft.com/office/officeart/2005/8/layout/cycle7"/>
    <dgm:cxn modelId="{37E24E25-2B85-7F43-B769-E829C84130C4}" type="presOf" srcId="{133307D1-48F3-D640-8BE4-1679261AFB29}" destId="{EAC5CEA8-1CA4-D44B-B645-F297B090F7D6}" srcOrd="0" destOrd="0" presId="urn:microsoft.com/office/officeart/2005/8/layout/cycle7"/>
    <dgm:cxn modelId="{2A362745-14E5-934F-8B8E-1EE631A1C69F}" type="presOf" srcId="{F8E4C0A6-6BFC-0842-A07B-CFC72032089C}" destId="{3F13A9FE-77EB-D84F-B706-50F9F89A347B}" srcOrd="0" destOrd="0" presId="urn:microsoft.com/office/officeart/2005/8/layout/cycle7"/>
    <dgm:cxn modelId="{28260E66-FE20-7E4E-982E-2CF2B2F21BA6}" type="presOf" srcId="{C3A932FD-A33A-EF4A-B5F8-738F56A101E0}" destId="{E887964E-80E2-9549-B198-E7A0E06E09BF}" srcOrd="0" destOrd="0" presId="urn:microsoft.com/office/officeart/2005/8/layout/cycle7"/>
    <dgm:cxn modelId="{6994346F-40F4-C74F-8EA3-4D0C2562D95A}" type="presOf" srcId="{A1FBB9B7-CC0A-8146-A8B6-62B683D4DDE3}" destId="{DDD3E472-6291-054A-8283-6B1007B9CC0E}" srcOrd="1" destOrd="0" presId="urn:microsoft.com/office/officeart/2005/8/layout/cycle7"/>
    <dgm:cxn modelId="{A22F9783-14A3-384E-93F7-5DE1FBDD444C}" type="presOf" srcId="{A5F1A89D-2644-1840-ADAC-3C494F235821}" destId="{8A2328FF-1CDB-BB48-91A2-B165E86E3AA7}" srcOrd="0" destOrd="0" presId="urn:microsoft.com/office/officeart/2005/8/layout/cycle7"/>
    <dgm:cxn modelId="{FC66C490-54C5-8A4A-8DBB-6651086019E2}" type="presOf" srcId="{A1FBB9B7-CC0A-8146-A8B6-62B683D4DDE3}" destId="{E2BF9541-7679-4F4C-BE39-A7AFA68429CE}" srcOrd="0" destOrd="0" presId="urn:microsoft.com/office/officeart/2005/8/layout/cycle7"/>
    <dgm:cxn modelId="{313650BA-F81D-D94A-931A-A911F8EC61C7}" type="presOf" srcId="{FBB4D0FF-DB13-B943-BBC9-E4A6F6C8CD0D}" destId="{E6645C40-004B-1542-8674-481C4880C27C}" srcOrd="0" destOrd="0" presId="urn:microsoft.com/office/officeart/2005/8/layout/cycle7"/>
    <dgm:cxn modelId="{70DA25D0-62E2-AB41-802F-18426252BEC1}" type="presOf" srcId="{FBB4D0FF-DB13-B943-BBC9-E4A6F6C8CD0D}" destId="{1668D144-2EC9-894B-B4DE-D6910A8667E4}" srcOrd="1" destOrd="0" presId="urn:microsoft.com/office/officeart/2005/8/layout/cycle7"/>
    <dgm:cxn modelId="{2FC626E3-2B98-554A-84C6-ACDD92CB9757}" srcId="{A5F1A89D-2644-1840-ADAC-3C494F235821}" destId="{F8E4C0A6-6BFC-0842-A07B-CFC72032089C}" srcOrd="1" destOrd="0" parTransId="{D47B636B-1114-EA4B-80A5-B1BF7412F722}" sibTransId="{A1FBB9B7-CC0A-8146-A8B6-62B683D4DDE3}"/>
    <dgm:cxn modelId="{B8F57EF2-8D84-EA45-AEC0-B2B148A2A042}" srcId="{A5F1A89D-2644-1840-ADAC-3C494F235821}" destId="{C3A932FD-A33A-EF4A-B5F8-738F56A101E0}" srcOrd="2" destOrd="0" parTransId="{42847912-8668-0C4A-9AC2-9124B9CE7B67}" sibTransId="{133307D1-48F3-D640-8BE4-1679261AFB29}"/>
    <dgm:cxn modelId="{4953E8E7-B5CF-C344-B725-B30485D9A91E}" type="presParOf" srcId="{8A2328FF-1CDB-BB48-91A2-B165E86E3AA7}" destId="{ADD532E5-6C08-4141-A90A-A9880D256B28}" srcOrd="0" destOrd="0" presId="urn:microsoft.com/office/officeart/2005/8/layout/cycle7"/>
    <dgm:cxn modelId="{A9F87FAB-9958-4047-A3A8-7B3EDBC86D5B}" type="presParOf" srcId="{8A2328FF-1CDB-BB48-91A2-B165E86E3AA7}" destId="{E6645C40-004B-1542-8674-481C4880C27C}" srcOrd="1" destOrd="0" presId="urn:microsoft.com/office/officeart/2005/8/layout/cycle7"/>
    <dgm:cxn modelId="{4AE57FB5-07E3-FF4F-92CB-14D7AF05D140}" type="presParOf" srcId="{E6645C40-004B-1542-8674-481C4880C27C}" destId="{1668D144-2EC9-894B-B4DE-D6910A8667E4}" srcOrd="0" destOrd="0" presId="urn:microsoft.com/office/officeart/2005/8/layout/cycle7"/>
    <dgm:cxn modelId="{857D3C04-9F1D-0E49-AB1A-B70D1C5971BD}" type="presParOf" srcId="{8A2328FF-1CDB-BB48-91A2-B165E86E3AA7}" destId="{3F13A9FE-77EB-D84F-B706-50F9F89A347B}" srcOrd="2" destOrd="0" presId="urn:microsoft.com/office/officeart/2005/8/layout/cycle7"/>
    <dgm:cxn modelId="{3210051A-ED8F-7242-8543-901876F26FB3}" type="presParOf" srcId="{8A2328FF-1CDB-BB48-91A2-B165E86E3AA7}" destId="{E2BF9541-7679-4F4C-BE39-A7AFA68429CE}" srcOrd="3" destOrd="0" presId="urn:microsoft.com/office/officeart/2005/8/layout/cycle7"/>
    <dgm:cxn modelId="{EF3E6861-904E-C043-B193-196D3334E820}" type="presParOf" srcId="{E2BF9541-7679-4F4C-BE39-A7AFA68429CE}" destId="{DDD3E472-6291-054A-8283-6B1007B9CC0E}" srcOrd="0" destOrd="0" presId="urn:microsoft.com/office/officeart/2005/8/layout/cycle7"/>
    <dgm:cxn modelId="{AB4CD0F5-DA77-FB4E-895D-C2115CF937EE}" type="presParOf" srcId="{8A2328FF-1CDB-BB48-91A2-B165E86E3AA7}" destId="{E887964E-80E2-9549-B198-E7A0E06E09BF}" srcOrd="4" destOrd="0" presId="urn:microsoft.com/office/officeart/2005/8/layout/cycle7"/>
    <dgm:cxn modelId="{4609916F-71EF-3C46-AF31-01F8771E7A12}" type="presParOf" srcId="{8A2328FF-1CDB-BB48-91A2-B165E86E3AA7}" destId="{EAC5CEA8-1CA4-D44B-B645-F297B090F7D6}" srcOrd="5" destOrd="0" presId="urn:microsoft.com/office/officeart/2005/8/layout/cycle7"/>
    <dgm:cxn modelId="{E0C1D949-887A-D04C-A2E9-EC892E7C3561}" type="presParOf" srcId="{EAC5CEA8-1CA4-D44B-B645-F297B090F7D6}" destId="{EF96ECC3-75D7-9B4C-BEAD-0206E48F33A3}"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D532E5-6C08-4141-A90A-A9880D256B28}">
      <dsp:nvSpPr>
        <dsp:cNvPr id="0" name=""/>
        <dsp:cNvSpPr/>
      </dsp:nvSpPr>
      <dsp:spPr>
        <a:xfrm>
          <a:off x="2661046" y="1572"/>
          <a:ext cx="2805906" cy="140295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dirty="0"/>
            <a:t>Justice (disparity)</a:t>
          </a:r>
        </a:p>
      </dsp:txBody>
      <dsp:txXfrm>
        <a:off x="2702137" y="42663"/>
        <a:ext cx="2723724" cy="1320771"/>
      </dsp:txXfrm>
    </dsp:sp>
    <dsp:sp modelId="{E6645C40-004B-1542-8674-481C4880C27C}">
      <dsp:nvSpPr>
        <dsp:cNvPr id="0" name=""/>
        <dsp:cNvSpPr/>
      </dsp:nvSpPr>
      <dsp:spPr>
        <a:xfrm rot="3600000">
          <a:off x="4491365" y="2463816"/>
          <a:ext cx="1461927" cy="49103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4638675" y="2562023"/>
        <a:ext cx="1167307" cy="294619"/>
      </dsp:txXfrm>
    </dsp:sp>
    <dsp:sp modelId="{3F13A9FE-77EB-D84F-B706-50F9F89A347B}">
      <dsp:nvSpPr>
        <dsp:cNvPr id="0" name=""/>
        <dsp:cNvSpPr/>
      </dsp:nvSpPr>
      <dsp:spPr>
        <a:xfrm>
          <a:off x="4977704" y="4014141"/>
          <a:ext cx="2805906" cy="140295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dirty="0"/>
            <a:t>Beauty (world as it should be)</a:t>
          </a:r>
        </a:p>
      </dsp:txBody>
      <dsp:txXfrm>
        <a:off x="5018795" y="4055232"/>
        <a:ext cx="2723724" cy="1320771"/>
      </dsp:txXfrm>
    </dsp:sp>
    <dsp:sp modelId="{E2BF9541-7679-4F4C-BE39-A7AFA68429CE}">
      <dsp:nvSpPr>
        <dsp:cNvPr id="0" name=""/>
        <dsp:cNvSpPr/>
      </dsp:nvSpPr>
      <dsp:spPr>
        <a:xfrm rot="10800000">
          <a:off x="3333036" y="4470101"/>
          <a:ext cx="1461927" cy="49103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rot="10800000">
        <a:off x="3480346" y="4568308"/>
        <a:ext cx="1167307" cy="294619"/>
      </dsp:txXfrm>
    </dsp:sp>
    <dsp:sp modelId="{E887964E-80E2-9549-B198-E7A0E06E09BF}">
      <dsp:nvSpPr>
        <dsp:cNvPr id="0" name=""/>
        <dsp:cNvSpPr/>
      </dsp:nvSpPr>
      <dsp:spPr>
        <a:xfrm>
          <a:off x="344389" y="4014141"/>
          <a:ext cx="2805906" cy="140295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dirty="0"/>
            <a:t>Truth (world as it is)</a:t>
          </a:r>
        </a:p>
      </dsp:txBody>
      <dsp:txXfrm>
        <a:off x="385480" y="4055232"/>
        <a:ext cx="2723724" cy="1320771"/>
      </dsp:txXfrm>
    </dsp:sp>
    <dsp:sp modelId="{EAC5CEA8-1CA4-D44B-B645-F297B090F7D6}">
      <dsp:nvSpPr>
        <dsp:cNvPr id="0" name=""/>
        <dsp:cNvSpPr/>
      </dsp:nvSpPr>
      <dsp:spPr>
        <a:xfrm rot="18000000">
          <a:off x="2174707" y="2463816"/>
          <a:ext cx="1461927" cy="49103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322017" y="2562023"/>
        <a:ext cx="1167307" cy="294619"/>
      </dsp:txXfrm>
    </dsp:sp>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2AA05-DE39-134D-9A05-5F9549512127}" type="datetimeFigureOut">
              <a:rPr lang="en-IT" smtClean="0"/>
              <a:t>11/02/24</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5B4B8A-64D0-7E40-91C3-A2FDCD1C47F2}" type="slidenum">
              <a:rPr lang="en-IT" smtClean="0"/>
              <a:t>‹#›</a:t>
            </a:fld>
            <a:endParaRPr lang="en-IT"/>
          </a:p>
        </p:txBody>
      </p:sp>
    </p:spTree>
    <p:extLst>
      <p:ext uri="{BB962C8B-B14F-4D97-AF65-F5344CB8AC3E}">
        <p14:creationId xmlns:p14="http://schemas.microsoft.com/office/powerpoint/2010/main" val="970385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Reardon – on the emergence of science and justice</a:t>
            </a:r>
          </a:p>
          <a:p>
            <a:r>
              <a:rPr lang="en-IT" dirty="0"/>
              <a:t>Fisk – Justice is key concept in critical theory</a:t>
            </a:r>
          </a:p>
        </p:txBody>
      </p:sp>
      <p:sp>
        <p:nvSpPr>
          <p:cNvPr id="4" name="Slide Number Placeholder 3"/>
          <p:cNvSpPr>
            <a:spLocks noGrp="1"/>
          </p:cNvSpPr>
          <p:nvPr>
            <p:ph type="sldNum" sz="quarter" idx="5"/>
          </p:nvPr>
        </p:nvSpPr>
        <p:spPr/>
        <p:txBody>
          <a:bodyPr/>
          <a:lstStyle/>
          <a:p>
            <a:fld id="{965B4B8A-64D0-7E40-91C3-A2FDCD1C47F2}" type="slidenum">
              <a:rPr lang="en-IT" smtClean="0"/>
              <a:t>9</a:t>
            </a:fld>
            <a:endParaRPr lang="en-IT"/>
          </a:p>
        </p:txBody>
      </p:sp>
    </p:spTree>
    <p:extLst>
      <p:ext uri="{BB962C8B-B14F-4D97-AF65-F5344CB8AC3E}">
        <p14:creationId xmlns:p14="http://schemas.microsoft.com/office/powerpoint/2010/main" val="1307404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Assumptions and values that inform our way of knowing -- Sen</a:t>
            </a:r>
          </a:p>
        </p:txBody>
      </p:sp>
      <p:sp>
        <p:nvSpPr>
          <p:cNvPr id="4" name="Slide Number Placeholder 3"/>
          <p:cNvSpPr>
            <a:spLocks noGrp="1"/>
          </p:cNvSpPr>
          <p:nvPr>
            <p:ph type="sldNum" sz="quarter" idx="5"/>
          </p:nvPr>
        </p:nvSpPr>
        <p:spPr/>
        <p:txBody>
          <a:bodyPr/>
          <a:lstStyle/>
          <a:p>
            <a:fld id="{965B4B8A-64D0-7E40-91C3-A2FDCD1C47F2}" type="slidenum">
              <a:rPr lang="en-IT" smtClean="0"/>
              <a:t>10</a:t>
            </a:fld>
            <a:endParaRPr lang="en-IT"/>
          </a:p>
        </p:txBody>
      </p:sp>
    </p:spTree>
    <p:extLst>
      <p:ext uri="{BB962C8B-B14F-4D97-AF65-F5344CB8AC3E}">
        <p14:creationId xmlns:p14="http://schemas.microsoft.com/office/powerpoint/2010/main" val="2852635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Who: researchers -- </a:t>
            </a:r>
            <a:r>
              <a:rPr lang="en-IT" sz="1800" kern="100" dirty="0">
                <a:effectLst/>
                <a:latin typeface="Calibri" panose="020F0502020204030204" pitchFamily="34" charset="0"/>
                <a:ea typeface="Calibri" panose="020F0502020204030204" pitchFamily="34" charset="0"/>
                <a:cs typeface="Times New Roman" panose="02020603050405020304" pitchFamily="18" charset="0"/>
              </a:rPr>
              <a:t>A team of supporters and collaborators enables this research to take place. Open science aims to include these supporting members of the scientific process and ensure they receive credit for their contribution to improve science.</a:t>
            </a:r>
          </a:p>
          <a:p>
            <a:r>
              <a:rPr lang="en-IT" sz="1800" kern="100" dirty="0">
                <a:effectLst/>
                <a:latin typeface="Calibri" panose="020F0502020204030204" pitchFamily="34" charset="0"/>
                <a:ea typeface="Calibri" panose="020F0502020204030204" pitchFamily="34" charset="0"/>
                <a:cs typeface="Times New Roman" panose="02020603050405020304" pitchFamily="18" charset="0"/>
              </a:rPr>
              <a:t> </a:t>
            </a: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Who: policy makers: -- </a:t>
            </a:r>
            <a:r>
              <a:rPr lang="en-IT" sz="1800" kern="100" dirty="0">
                <a:effectLst/>
                <a:latin typeface="Calibri" panose="020F0502020204030204" pitchFamily="34" charset="0"/>
                <a:ea typeface="Calibri" panose="020F0502020204030204" pitchFamily="34" charset="0"/>
                <a:cs typeface="Times New Roman" panose="02020603050405020304" pitchFamily="18" charset="0"/>
              </a:rPr>
              <a:t>Policy makers can also play important roles in ensuring and facilitating open science by setting data management processes, encouraging open access legislation, and developing ethical guidelines for experiments. Policy makers can benefit from open science by gaining better access to scientific output via the open sharing of research results.</a:t>
            </a:r>
          </a:p>
          <a:p>
            <a:r>
              <a:rPr lang="en-IT" sz="1800" kern="100" dirty="0">
                <a:effectLst/>
                <a:latin typeface="Calibri" panose="020F0502020204030204" pitchFamily="34" charset="0"/>
                <a:ea typeface="Calibri" panose="020F0502020204030204" pitchFamily="34" charset="0"/>
                <a:cs typeface="Times New Roman" panose="02020603050405020304" pitchFamily="18" charset="0"/>
              </a:rPr>
              <a:t> </a:t>
            </a:r>
          </a:p>
          <a:p>
            <a:r>
              <a:rPr lang="en-IT" sz="1800" kern="100" dirty="0">
                <a:effectLst/>
                <a:latin typeface="Calibri" panose="020F0502020204030204" pitchFamily="34" charset="0"/>
                <a:ea typeface="Calibri" panose="020F0502020204030204" pitchFamily="34" charset="0"/>
                <a:cs typeface="Times New Roman" panose="02020603050405020304" pitchFamily="18" charset="0"/>
              </a:rPr>
              <a:t> </a:t>
            </a: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Who: public: -- </a:t>
            </a:r>
            <a:r>
              <a:rPr lang="en-IT" sz="1800" kern="100" dirty="0">
                <a:effectLst/>
                <a:latin typeface="Calibri" panose="020F0502020204030204" pitchFamily="34" charset="0"/>
                <a:ea typeface="Calibri" panose="020F0502020204030204" pitchFamily="34" charset="0"/>
                <a:cs typeface="Times New Roman" panose="02020603050405020304" pitchFamily="18" charset="0"/>
              </a:rPr>
              <a:t>The public plays a crucial role in science today as consumers of scientific results who make decisions based on, and adhere to policies shaped by, scientific results. Open science can make scientific results, data, and workflows more accessible to the public by strengthening routes of access to trustworthy sources of information, which in turn increases trust in science. The public can also take part in open science through community science projects, for example as volunteers to collect or manage data. As a result, participants boost their understanding of science and feel empowered through opportunities to exert influence.</a:t>
            </a:r>
          </a:p>
          <a:p>
            <a:r>
              <a:rPr lang="en-IT" sz="1800" kern="1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IT" dirty="0"/>
          </a:p>
        </p:txBody>
      </p:sp>
      <p:sp>
        <p:nvSpPr>
          <p:cNvPr id="4" name="Slide Number Placeholder 3"/>
          <p:cNvSpPr>
            <a:spLocks noGrp="1"/>
          </p:cNvSpPr>
          <p:nvPr>
            <p:ph type="sldNum" sz="quarter" idx="5"/>
          </p:nvPr>
        </p:nvSpPr>
        <p:spPr/>
        <p:txBody>
          <a:bodyPr/>
          <a:lstStyle/>
          <a:p>
            <a:fld id="{965B4B8A-64D0-7E40-91C3-A2FDCD1C47F2}" type="slidenum">
              <a:rPr lang="en-IT" smtClean="0"/>
              <a:t>18</a:t>
            </a:fld>
            <a:endParaRPr lang="en-IT"/>
          </a:p>
        </p:txBody>
      </p:sp>
    </p:spTree>
    <p:extLst>
      <p:ext uri="{BB962C8B-B14F-4D97-AF65-F5344CB8AC3E}">
        <p14:creationId xmlns:p14="http://schemas.microsoft.com/office/powerpoint/2010/main" val="3563452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49F62-F3C1-8C44-8C3A-644C497147F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7B39DFD0-CB31-9388-81CE-A2A2BD2978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46441A88-43E9-9396-443B-DE9A9ECCB7D2}"/>
              </a:ext>
            </a:extLst>
          </p:cNvPr>
          <p:cNvSpPr>
            <a:spLocks noGrp="1"/>
          </p:cNvSpPr>
          <p:nvPr>
            <p:ph type="dt" sz="half" idx="10"/>
          </p:nvPr>
        </p:nvSpPr>
        <p:spPr/>
        <p:txBody>
          <a:bodyPr/>
          <a:lstStyle/>
          <a:p>
            <a:fld id="{45D15052-DF10-9641-B987-19E6360C02EA}" type="datetimeFigureOut">
              <a:rPr lang="en-IT" smtClean="0"/>
              <a:t>11/02/24</a:t>
            </a:fld>
            <a:endParaRPr lang="en-IT"/>
          </a:p>
        </p:txBody>
      </p:sp>
      <p:sp>
        <p:nvSpPr>
          <p:cNvPr id="5" name="Footer Placeholder 4">
            <a:extLst>
              <a:ext uri="{FF2B5EF4-FFF2-40B4-BE49-F238E27FC236}">
                <a16:creationId xmlns:a16="http://schemas.microsoft.com/office/drawing/2014/main" id="{654E2D8B-4902-C13E-B483-EC63C7D89B9C}"/>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08E9F837-412A-1F85-0B60-69D0ED12686C}"/>
              </a:ext>
            </a:extLst>
          </p:cNvPr>
          <p:cNvSpPr>
            <a:spLocks noGrp="1"/>
          </p:cNvSpPr>
          <p:nvPr>
            <p:ph type="sldNum" sz="quarter" idx="12"/>
          </p:nvPr>
        </p:nvSpPr>
        <p:spPr/>
        <p:txBody>
          <a:bodyPr/>
          <a:lstStyle/>
          <a:p>
            <a:fld id="{CFD6C7A5-589E-574C-BE1D-9970F2AC1A95}" type="slidenum">
              <a:rPr lang="en-IT" smtClean="0"/>
              <a:t>‹#›</a:t>
            </a:fld>
            <a:endParaRPr lang="en-IT"/>
          </a:p>
        </p:txBody>
      </p:sp>
    </p:spTree>
    <p:extLst>
      <p:ext uri="{BB962C8B-B14F-4D97-AF65-F5344CB8AC3E}">
        <p14:creationId xmlns:p14="http://schemas.microsoft.com/office/powerpoint/2010/main" val="3891275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7F6E5-9E3C-A4F2-9381-755BE77AF8FB}"/>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7E91D8F6-8B76-FEA3-1821-AA00027D955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FA524190-6ABF-AD37-6E08-841492F7474A}"/>
              </a:ext>
            </a:extLst>
          </p:cNvPr>
          <p:cNvSpPr>
            <a:spLocks noGrp="1"/>
          </p:cNvSpPr>
          <p:nvPr>
            <p:ph type="dt" sz="half" idx="10"/>
          </p:nvPr>
        </p:nvSpPr>
        <p:spPr/>
        <p:txBody>
          <a:bodyPr/>
          <a:lstStyle/>
          <a:p>
            <a:fld id="{45D15052-DF10-9641-B987-19E6360C02EA}" type="datetimeFigureOut">
              <a:rPr lang="en-IT" smtClean="0"/>
              <a:t>11/02/24</a:t>
            </a:fld>
            <a:endParaRPr lang="en-IT"/>
          </a:p>
        </p:txBody>
      </p:sp>
      <p:sp>
        <p:nvSpPr>
          <p:cNvPr id="5" name="Footer Placeholder 4">
            <a:extLst>
              <a:ext uri="{FF2B5EF4-FFF2-40B4-BE49-F238E27FC236}">
                <a16:creationId xmlns:a16="http://schemas.microsoft.com/office/drawing/2014/main" id="{96141275-C84A-46D8-CE27-EDDC620CEAA4}"/>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DC943657-05BB-759F-9E9B-599F901AD154}"/>
              </a:ext>
            </a:extLst>
          </p:cNvPr>
          <p:cNvSpPr>
            <a:spLocks noGrp="1"/>
          </p:cNvSpPr>
          <p:nvPr>
            <p:ph type="sldNum" sz="quarter" idx="12"/>
          </p:nvPr>
        </p:nvSpPr>
        <p:spPr/>
        <p:txBody>
          <a:bodyPr/>
          <a:lstStyle/>
          <a:p>
            <a:fld id="{CFD6C7A5-589E-574C-BE1D-9970F2AC1A95}" type="slidenum">
              <a:rPr lang="en-IT" smtClean="0"/>
              <a:t>‹#›</a:t>
            </a:fld>
            <a:endParaRPr lang="en-IT"/>
          </a:p>
        </p:txBody>
      </p:sp>
    </p:spTree>
    <p:extLst>
      <p:ext uri="{BB962C8B-B14F-4D97-AF65-F5344CB8AC3E}">
        <p14:creationId xmlns:p14="http://schemas.microsoft.com/office/powerpoint/2010/main" val="3244911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C47F3-8978-5005-4EFC-9EEBCA888B7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C2CF6CFD-3114-81B8-F491-E3A2E52980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986F7BC-55F3-8B90-AE0C-49663E4BA733}"/>
              </a:ext>
            </a:extLst>
          </p:cNvPr>
          <p:cNvSpPr>
            <a:spLocks noGrp="1"/>
          </p:cNvSpPr>
          <p:nvPr>
            <p:ph type="dt" sz="half" idx="10"/>
          </p:nvPr>
        </p:nvSpPr>
        <p:spPr/>
        <p:txBody>
          <a:bodyPr/>
          <a:lstStyle/>
          <a:p>
            <a:fld id="{45D15052-DF10-9641-B987-19E6360C02EA}" type="datetimeFigureOut">
              <a:rPr lang="en-IT" smtClean="0"/>
              <a:t>11/02/24</a:t>
            </a:fld>
            <a:endParaRPr lang="en-IT"/>
          </a:p>
        </p:txBody>
      </p:sp>
      <p:sp>
        <p:nvSpPr>
          <p:cNvPr id="5" name="Footer Placeholder 4">
            <a:extLst>
              <a:ext uri="{FF2B5EF4-FFF2-40B4-BE49-F238E27FC236}">
                <a16:creationId xmlns:a16="http://schemas.microsoft.com/office/drawing/2014/main" id="{39DC49F8-A0DF-A775-9B66-6BE1DBE70C46}"/>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0C8428FA-1AC7-DFA0-83B9-019CAB6D53B3}"/>
              </a:ext>
            </a:extLst>
          </p:cNvPr>
          <p:cNvSpPr>
            <a:spLocks noGrp="1"/>
          </p:cNvSpPr>
          <p:nvPr>
            <p:ph type="sldNum" sz="quarter" idx="12"/>
          </p:nvPr>
        </p:nvSpPr>
        <p:spPr/>
        <p:txBody>
          <a:bodyPr/>
          <a:lstStyle/>
          <a:p>
            <a:fld id="{CFD6C7A5-589E-574C-BE1D-9970F2AC1A95}" type="slidenum">
              <a:rPr lang="en-IT" smtClean="0"/>
              <a:t>‹#›</a:t>
            </a:fld>
            <a:endParaRPr lang="en-IT"/>
          </a:p>
        </p:txBody>
      </p:sp>
    </p:spTree>
    <p:extLst>
      <p:ext uri="{BB962C8B-B14F-4D97-AF65-F5344CB8AC3E}">
        <p14:creationId xmlns:p14="http://schemas.microsoft.com/office/powerpoint/2010/main" val="3708224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5F8A2-7180-3156-A2A9-935E121ACE52}"/>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A7C88BAB-732B-2BDF-C1A0-59FCE1B2AC9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C377D099-532B-84A8-8B22-647DF48A277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A75069E8-A466-562B-86A2-4BE48B4BAD2D}"/>
              </a:ext>
            </a:extLst>
          </p:cNvPr>
          <p:cNvSpPr>
            <a:spLocks noGrp="1"/>
          </p:cNvSpPr>
          <p:nvPr>
            <p:ph type="dt" sz="half" idx="10"/>
          </p:nvPr>
        </p:nvSpPr>
        <p:spPr/>
        <p:txBody>
          <a:bodyPr/>
          <a:lstStyle/>
          <a:p>
            <a:fld id="{45D15052-DF10-9641-B987-19E6360C02EA}" type="datetimeFigureOut">
              <a:rPr lang="en-IT" smtClean="0"/>
              <a:t>11/02/24</a:t>
            </a:fld>
            <a:endParaRPr lang="en-IT"/>
          </a:p>
        </p:txBody>
      </p:sp>
      <p:sp>
        <p:nvSpPr>
          <p:cNvPr id="6" name="Footer Placeholder 5">
            <a:extLst>
              <a:ext uri="{FF2B5EF4-FFF2-40B4-BE49-F238E27FC236}">
                <a16:creationId xmlns:a16="http://schemas.microsoft.com/office/drawing/2014/main" id="{2998BD17-DCAE-2882-5B15-6C371B29B449}"/>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D7F40B02-D45F-AAB0-5915-E3D4445B303C}"/>
              </a:ext>
            </a:extLst>
          </p:cNvPr>
          <p:cNvSpPr>
            <a:spLocks noGrp="1"/>
          </p:cNvSpPr>
          <p:nvPr>
            <p:ph type="sldNum" sz="quarter" idx="12"/>
          </p:nvPr>
        </p:nvSpPr>
        <p:spPr/>
        <p:txBody>
          <a:bodyPr/>
          <a:lstStyle/>
          <a:p>
            <a:fld id="{CFD6C7A5-589E-574C-BE1D-9970F2AC1A95}" type="slidenum">
              <a:rPr lang="en-IT" smtClean="0"/>
              <a:t>‹#›</a:t>
            </a:fld>
            <a:endParaRPr lang="en-IT"/>
          </a:p>
        </p:txBody>
      </p:sp>
    </p:spTree>
    <p:extLst>
      <p:ext uri="{BB962C8B-B14F-4D97-AF65-F5344CB8AC3E}">
        <p14:creationId xmlns:p14="http://schemas.microsoft.com/office/powerpoint/2010/main" val="530648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23C43-B9A1-3321-6243-A656A34DDFA9}"/>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0EE42501-0FB9-9A68-BE8C-4486102B1D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E5D7BA2-9213-16E6-9BFC-C80A327EA88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E70FF6C0-D41B-3BA0-0A0C-E2D93654AE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A8F4DCE-25DA-CD65-1F4D-317498C5D95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66A0D49F-FFA4-6955-8B9B-9BA40DA187AA}"/>
              </a:ext>
            </a:extLst>
          </p:cNvPr>
          <p:cNvSpPr>
            <a:spLocks noGrp="1"/>
          </p:cNvSpPr>
          <p:nvPr>
            <p:ph type="dt" sz="half" idx="10"/>
          </p:nvPr>
        </p:nvSpPr>
        <p:spPr/>
        <p:txBody>
          <a:bodyPr/>
          <a:lstStyle/>
          <a:p>
            <a:fld id="{45D15052-DF10-9641-B987-19E6360C02EA}" type="datetimeFigureOut">
              <a:rPr lang="en-IT" smtClean="0"/>
              <a:t>11/02/24</a:t>
            </a:fld>
            <a:endParaRPr lang="en-IT"/>
          </a:p>
        </p:txBody>
      </p:sp>
      <p:sp>
        <p:nvSpPr>
          <p:cNvPr id="8" name="Footer Placeholder 7">
            <a:extLst>
              <a:ext uri="{FF2B5EF4-FFF2-40B4-BE49-F238E27FC236}">
                <a16:creationId xmlns:a16="http://schemas.microsoft.com/office/drawing/2014/main" id="{60DE40E8-57A4-0686-AB4B-AE9AD5D27B53}"/>
              </a:ext>
            </a:extLst>
          </p:cNvPr>
          <p:cNvSpPr>
            <a:spLocks noGrp="1"/>
          </p:cNvSpPr>
          <p:nvPr>
            <p:ph type="ftr" sz="quarter" idx="11"/>
          </p:nvPr>
        </p:nvSpPr>
        <p:spPr/>
        <p:txBody>
          <a:bodyPr/>
          <a:lstStyle/>
          <a:p>
            <a:endParaRPr lang="en-IT"/>
          </a:p>
        </p:txBody>
      </p:sp>
      <p:sp>
        <p:nvSpPr>
          <p:cNvPr id="9" name="Slide Number Placeholder 8">
            <a:extLst>
              <a:ext uri="{FF2B5EF4-FFF2-40B4-BE49-F238E27FC236}">
                <a16:creationId xmlns:a16="http://schemas.microsoft.com/office/drawing/2014/main" id="{23A18DBE-AC47-AC1C-A663-E96C611913FD}"/>
              </a:ext>
            </a:extLst>
          </p:cNvPr>
          <p:cNvSpPr>
            <a:spLocks noGrp="1"/>
          </p:cNvSpPr>
          <p:nvPr>
            <p:ph type="sldNum" sz="quarter" idx="12"/>
          </p:nvPr>
        </p:nvSpPr>
        <p:spPr/>
        <p:txBody>
          <a:bodyPr/>
          <a:lstStyle/>
          <a:p>
            <a:fld id="{CFD6C7A5-589E-574C-BE1D-9970F2AC1A95}" type="slidenum">
              <a:rPr lang="en-IT" smtClean="0"/>
              <a:t>‹#›</a:t>
            </a:fld>
            <a:endParaRPr lang="en-IT"/>
          </a:p>
        </p:txBody>
      </p:sp>
    </p:spTree>
    <p:extLst>
      <p:ext uri="{BB962C8B-B14F-4D97-AF65-F5344CB8AC3E}">
        <p14:creationId xmlns:p14="http://schemas.microsoft.com/office/powerpoint/2010/main" val="2610297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76C01-A1C6-2F3C-660D-BEF82589CC0A}"/>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AFAE4F4C-D8B9-D8BA-7389-3B12D49BB07B}"/>
              </a:ext>
            </a:extLst>
          </p:cNvPr>
          <p:cNvSpPr>
            <a:spLocks noGrp="1"/>
          </p:cNvSpPr>
          <p:nvPr>
            <p:ph type="dt" sz="half" idx="10"/>
          </p:nvPr>
        </p:nvSpPr>
        <p:spPr/>
        <p:txBody>
          <a:bodyPr/>
          <a:lstStyle/>
          <a:p>
            <a:fld id="{45D15052-DF10-9641-B987-19E6360C02EA}" type="datetimeFigureOut">
              <a:rPr lang="en-IT" smtClean="0"/>
              <a:t>11/02/24</a:t>
            </a:fld>
            <a:endParaRPr lang="en-IT"/>
          </a:p>
        </p:txBody>
      </p:sp>
      <p:sp>
        <p:nvSpPr>
          <p:cNvPr id="4" name="Footer Placeholder 3">
            <a:extLst>
              <a:ext uri="{FF2B5EF4-FFF2-40B4-BE49-F238E27FC236}">
                <a16:creationId xmlns:a16="http://schemas.microsoft.com/office/drawing/2014/main" id="{EA199A4D-1743-2A01-BCDD-2ACC789F7899}"/>
              </a:ext>
            </a:extLst>
          </p:cNvPr>
          <p:cNvSpPr>
            <a:spLocks noGrp="1"/>
          </p:cNvSpPr>
          <p:nvPr>
            <p:ph type="ftr" sz="quarter" idx="11"/>
          </p:nvPr>
        </p:nvSpPr>
        <p:spPr/>
        <p:txBody>
          <a:bodyPr/>
          <a:lstStyle/>
          <a:p>
            <a:endParaRPr lang="en-IT"/>
          </a:p>
        </p:txBody>
      </p:sp>
      <p:sp>
        <p:nvSpPr>
          <p:cNvPr id="5" name="Slide Number Placeholder 4">
            <a:extLst>
              <a:ext uri="{FF2B5EF4-FFF2-40B4-BE49-F238E27FC236}">
                <a16:creationId xmlns:a16="http://schemas.microsoft.com/office/drawing/2014/main" id="{A28FEF55-D97E-E59B-70DC-0FF2DE982833}"/>
              </a:ext>
            </a:extLst>
          </p:cNvPr>
          <p:cNvSpPr>
            <a:spLocks noGrp="1"/>
          </p:cNvSpPr>
          <p:nvPr>
            <p:ph type="sldNum" sz="quarter" idx="12"/>
          </p:nvPr>
        </p:nvSpPr>
        <p:spPr/>
        <p:txBody>
          <a:bodyPr/>
          <a:lstStyle/>
          <a:p>
            <a:fld id="{CFD6C7A5-589E-574C-BE1D-9970F2AC1A95}" type="slidenum">
              <a:rPr lang="en-IT" smtClean="0"/>
              <a:t>‹#›</a:t>
            </a:fld>
            <a:endParaRPr lang="en-IT"/>
          </a:p>
        </p:txBody>
      </p:sp>
    </p:spTree>
    <p:extLst>
      <p:ext uri="{BB962C8B-B14F-4D97-AF65-F5344CB8AC3E}">
        <p14:creationId xmlns:p14="http://schemas.microsoft.com/office/powerpoint/2010/main" val="3184101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188236-0F55-2B81-42CC-8C46D9AE150C}"/>
              </a:ext>
            </a:extLst>
          </p:cNvPr>
          <p:cNvSpPr>
            <a:spLocks noGrp="1"/>
          </p:cNvSpPr>
          <p:nvPr>
            <p:ph type="dt" sz="half" idx="10"/>
          </p:nvPr>
        </p:nvSpPr>
        <p:spPr/>
        <p:txBody>
          <a:bodyPr/>
          <a:lstStyle/>
          <a:p>
            <a:fld id="{45D15052-DF10-9641-B987-19E6360C02EA}" type="datetimeFigureOut">
              <a:rPr lang="en-IT" smtClean="0"/>
              <a:t>11/02/24</a:t>
            </a:fld>
            <a:endParaRPr lang="en-IT"/>
          </a:p>
        </p:txBody>
      </p:sp>
      <p:sp>
        <p:nvSpPr>
          <p:cNvPr id="3" name="Footer Placeholder 2">
            <a:extLst>
              <a:ext uri="{FF2B5EF4-FFF2-40B4-BE49-F238E27FC236}">
                <a16:creationId xmlns:a16="http://schemas.microsoft.com/office/drawing/2014/main" id="{1BE78C43-0EE8-E926-32DF-1347F99CA464}"/>
              </a:ext>
            </a:extLst>
          </p:cNvPr>
          <p:cNvSpPr>
            <a:spLocks noGrp="1"/>
          </p:cNvSpPr>
          <p:nvPr>
            <p:ph type="ftr" sz="quarter" idx="11"/>
          </p:nvPr>
        </p:nvSpPr>
        <p:spPr/>
        <p:txBody>
          <a:bodyPr/>
          <a:lstStyle/>
          <a:p>
            <a:endParaRPr lang="en-IT"/>
          </a:p>
        </p:txBody>
      </p:sp>
      <p:sp>
        <p:nvSpPr>
          <p:cNvPr id="4" name="Slide Number Placeholder 3">
            <a:extLst>
              <a:ext uri="{FF2B5EF4-FFF2-40B4-BE49-F238E27FC236}">
                <a16:creationId xmlns:a16="http://schemas.microsoft.com/office/drawing/2014/main" id="{28860A00-ADB1-39D3-E7AA-F745FFB0F672}"/>
              </a:ext>
            </a:extLst>
          </p:cNvPr>
          <p:cNvSpPr>
            <a:spLocks noGrp="1"/>
          </p:cNvSpPr>
          <p:nvPr>
            <p:ph type="sldNum" sz="quarter" idx="12"/>
          </p:nvPr>
        </p:nvSpPr>
        <p:spPr/>
        <p:txBody>
          <a:bodyPr/>
          <a:lstStyle/>
          <a:p>
            <a:fld id="{CFD6C7A5-589E-574C-BE1D-9970F2AC1A95}" type="slidenum">
              <a:rPr lang="en-IT" smtClean="0"/>
              <a:t>‹#›</a:t>
            </a:fld>
            <a:endParaRPr lang="en-IT"/>
          </a:p>
        </p:txBody>
      </p:sp>
    </p:spTree>
    <p:extLst>
      <p:ext uri="{BB962C8B-B14F-4D97-AF65-F5344CB8AC3E}">
        <p14:creationId xmlns:p14="http://schemas.microsoft.com/office/powerpoint/2010/main" val="4098994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514F9-9BBC-23E5-A35D-98D7A427BCB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78CA9E60-7EB7-CC6D-E447-05B3E7E194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68211E9F-391F-04D9-30CA-E625DECD03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2B31B51-9B2E-4B59-BBAB-8A0602690ABB}"/>
              </a:ext>
            </a:extLst>
          </p:cNvPr>
          <p:cNvSpPr>
            <a:spLocks noGrp="1"/>
          </p:cNvSpPr>
          <p:nvPr>
            <p:ph type="dt" sz="half" idx="10"/>
          </p:nvPr>
        </p:nvSpPr>
        <p:spPr/>
        <p:txBody>
          <a:bodyPr/>
          <a:lstStyle/>
          <a:p>
            <a:fld id="{45D15052-DF10-9641-B987-19E6360C02EA}" type="datetimeFigureOut">
              <a:rPr lang="en-IT" smtClean="0"/>
              <a:t>11/02/24</a:t>
            </a:fld>
            <a:endParaRPr lang="en-IT"/>
          </a:p>
        </p:txBody>
      </p:sp>
      <p:sp>
        <p:nvSpPr>
          <p:cNvPr id="6" name="Footer Placeholder 5">
            <a:extLst>
              <a:ext uri="{FF2B5EF4-FFF2-40B4-BE49-F238E27FC236}">
                <a16:creationId xmlns:a16="http://schemas.microsoft.com/office/drawing/2014/main" id="{D74EFC68-1159-67BE-D65D-D8EFF00DD7D0}"/>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30D429C4-23D5-D047-ABD2-AA20F5B2F19A}"/>
              </a:ext>
            </a:extLst>
          </p:cNvPr>
          <p:cNvSpPr>
            <a:spLocks noGrp="1"/>
          </p:cNvSpPr>
          <p:nvPr>
            <p:ph type="sldNum" sz="quarter" idx="12"/>
          </p:nvPr>
        </p:nvSpPr>
        <p:spPr/>
        <p:txBody>
          <a:bodyPr/>
          <a:lstStyle/>
          <a:p>
            <a:fld id="{CFD6C7A5-589E-574C-BE1D-9970F2AC1A95}" type="slidenum">
              <a:rPr lang="en-IT" smtClean="0"/>
              <a:t>‹#›</a:t>
            </a:fld>
            <a:endParaRPr lang="en-IT"/>
          </a:p>
        </p:txBody>
      </p:sp>
    </p:spTree>
    <p:extLst>
      <p:ext uri="{BB962C8B-B14F-4D97-AF65-F5344CB8AC3E}">
        <p14:creationId xmlns:p14="http://schemas.microsoft.com/office/powerpoint/2010/main" val="3594201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53174-6344-B00E-90A6-6F98300BD98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3E020619-91CB-FEA8-D7E0-A31E714C7F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F3230E2C-0AEC-C611-C612-8BA6570136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A1F42A2-5FBF-F548-E39D-5219ED8EE6D7}"/>
              </a:ext>
            </a:extLst>
          </p:cNvPr>
          <p:cNvSpPr>
            <a:spLocks noGrp="1"/>
          </p:cNvSpPr>
          <p:nvPr>
            <p:ph type="dt" sz="half" idx="10"/>
          </p:nvPr>
        </p:nvSpPr>
        <p:spPr/>
        <p:txBody>
          <a:bodyPr/>
          <a:lstStyle/>
          <a:p>
            <a:fld id="{45D15052-DF10-9641-B987-19E6360C02EA}" type="datetimeFigureOut">
              <a:rPr lang="en-IT" smtClean="0"/>
              <a:t>11/02/24</a:t>
            </a:fld>
            <a:endParaRPr lang="en-IT"/>
          </a:p>
        </p:txBody>
      </p:sp>
      <p:sp>
        <p:nvSpPr>
          <p:cNvPr id="6" name="Footer Placeholder 5">
            <a:extLst>
              <a:ext uri="{FF2B5EF4-FFF2-40B4-BE49-F238E27FC236}">
                <a16:creationId xmlns:a16="http://schemas.microsoft.com/office/drawing/2014/main" id="{45069B76-8CB9-A10D-ABEA-D67E6BF0C885}"/>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1384C847-9403-9B13-BC38-F3702208332F}"/>
              </a:ext>
            </a:extLst>
          </p:cNvPr>
          <p:cNvSpPr>
            <a:spLocks noGrp="1"/>
          </p:cNvSpPr>
          <p:nvPr>
            <p:ph type="sldNum" sz="quarter" idx="12"/>
          </p:nvPr>
        </p:nvSpPr>
        <p:spPr/>
        <p:txBody>
          <a:bodyPr/>
          <a:lstStyle/>
          <a:p>
            <a:fld id="{CFD6C7A5-589E-574C-BE1D-9970F2AC1A95}" type="slidenum">
              <a:rPr lang="en-IT" smtClean="0"/>
              <a:t>‹#›</a:t>
            </a:fld>
            <a:endParaRPr lang="en-IT"/>
          </a:p>
        </p:txBody>
      </p:sp>
    </p:spTree>
    <p:extLst>
      <p:ext uri="{BB962C8B-B14F-4D97-AF65-F5344CB8AC3E}">
        <p14:creationId xmlns:p14="http://schemas.microsoft.com/office/powerpoint/2010/main" val="1631322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52992-0AC0-CBCE-E67A-95FB972AD26F}"/>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CFB54A7C-4310-A07C-AFC2-500104A1B6E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9ACE54A9-9856-17E2-B37E-5951D2BA3AB0}"/>
              </a:ext>
            </a:extLst>
          </p:cNvPr>
          <p:cNvSpPr>
            <a:spLocks noGrp="1"/>
          </p:cNvSpPr>
          <p:nvPr>
            <p:ph type="dt" sz="half" idx="10"/>
          </p:nvPr>
        </p:nvSpPr>
        <p:spPr/>
        <p:txBody>
          <a:bodyPr/>
          <a:lstStyle/>
          <a:p>
            <a:fld id="{45D15052-DF10-9641-B987-19E6360C02EA}" type="datetimeFigureOut">
              <a:rPr lang="en-IT" smtClean="0"/>
              <a:t>11/02/24</a:t>
            </a:fld>
            <a:endParaRPr lang="en-IT"/>
          </a:p>
        </p:txBody>
      </p:sp>
      <p:sp>
        <p:nvSpPr>
          <p:cNvPr id="5" name="Footer Placeholder 4">
            <a:extLst>
              <a:ext uri="{FF2B5EF4-FFF2-40B4-BE49-F238E27FC236}">
                <a16:creationId xmlns:a16="http://schemas.microsoft.com/office/drawing/2014/main" id="{ADFD2A4A-3FE4-3645-74F0-FB6AB0257CF0}"/>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E321037B-B073-94C1-9BC2-148F46B4756B}"/>
              </a:ext>
            </a:extLst>
          </p:cNvPr>
          <p:cNvSpPr>
            <a:spLocks noGrp="1"/>
          </p:cNvSpPr>
          <p:nvPr>
            <p:ph type="sldNum" sz="quarter" idx="12"/>
          </p:nvPr>
        </p:nvSpPr>
        <p:spPr/>
        <p:txBody>
          <a:bodyPr/>
          <a:lstStyle/>
          <a:p>
            <a:fld id="{CFD6C7A5-589E-574C-BE1D-9970F2AC1A95}" type="slidenum">
              <a:rPr lang="en-IT" smtClean="0"/>
              <a:t>‹#›</a:t>
            </a:fld>
            <a:endParaRPr lang="en-IT"/>
          </a:p>
        </p:txBody>
      </p:sp>
    </p:spTree>
    <p:extLst>
      <p:ext uri="{BB962C8B-B14F-4D97-AF65-F5344CB8AC3E}">
        <p14:creationId xmlns:p14="http://schemas.microsoft.com/office/powerpoint/2010/main" val="1900508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E2ED7C-AC6F-05D2-2500-526F2ED91C4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09850A66-C42F-68F9-1359-17BB8D51D05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B1373085-CB14-AFBB-1EC0-D90AFF918AEB}"/>
              </a:ext>
            </a:extLst>
          </p:cNvPr>
          <p:cNvSpPr>
            <a:spLocks noGrp="1"/>
          </p:cNvSpPr>
          <p:nvPr>
            <p:ph type="dt" sz="half" idx="10"/>
          </p:nvPr>
        </p:nvSpPr>
        <p:spPr/>
        <p:txBody>
          <a:bodyPr/>
          <a:lstStyle/>
          <a:p>
            <a:fld id="{45D15052-DF10-9641-B987-19E6360C02EA}" type="datetimeFigureOut">
              <a:rPr lang="en-IT" smtClean="0"/>
              <a:t>11/02/24</a:t>
            </a:fld>
            <a:endParaRPr lang="en-IT"/>
          </a:p>
        </p:txBody>
      </p:sp>
      <p:sp>
        <p:nvSpPr>
          <p:cNvPr id="5" name="Footer Placeholder 4">
            <a:extLst>
              <a:ext uri="{FF2B5EF4-FFF2-40B4-BE49-F238E27FC236}">
                <a16:creationId xmlns:a16="http://schemas.microsoft.com/office/drawing/2014/main" id="{2689F06E-7AC8-40A8-9B45-D06F3CC49E33}"/>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957B793D-A75A-A0D8-8318-8BD85AA93EBC}"/>
              </a:ext>
            </a:extLst>
          </p:cNvPr>
          <p:cNvSpPr>
            <a:spLocks noGrp="1"/>
          </p:cNvSpPr>
          <p:nvPr>
            <p:ph type="sldNum" sz="quarter" idx="12"/>
          </p:nvPr>
        </p:nvSpPr>
        <p:spPr/>
        <p:txBody>
          <a:bodyPr/>
          <a:lstStyle/>
          <a:p>
            <a:fld id="{CFD6C7A5-589E-574C-BE1D-9970F2AC1A95}" type="slidenum">
              <a:rPr lang="en-IT" smtClean="0"/>
              <a:t>‹#›</a:t>
            </a:fld>
            <a:endParaRPr lang="en-IT"/>
          </a:p>
        </p:txBody>
      </p:sp>
    </p:spTree>
    <p:extLst>
      <p:ext uri="{BB962C8B-B14F-4D97-AF65-F5344CB8AC3E}">
        <p14:creationId xmlns:p14="http://schemas.microsoft.com/office/powerpoint/2010/main" val="1140169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9DD7BC-DFD4-03EF-2934-741D3E0D1B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ECB73BA3-944C-D1E0-7715-29ABD7399C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23E38160-8FE9-BD98-57D5-17A4015628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D15052-DF10-9641-B987-19E6360C02EA}" type="datetimeFigureOut">
              <a:rPr lang="en-IT" smtClean="0"/>
              <a:t>11/02/24</a:t>
            </a:fld>
            <a:endParaRPr lang="en-IT"/>
          </a:p>
        </p:txBody>
      </p:sp>
      <p:sp>
        <p:nvSpPr>
          <p:cNvPr id="5" name="Footer Placeholder 4">
            <a:extLst>
              <a:ext uri="{FF2B5EF4-FFF2-40B4-BE49-F238E27FC236}">
                <a16:creationId xmlns:a16="http://schemas.microsoft.com/office/drawing/2014/main" id="{FF3884EF-FF76-13F1-EB8E-578C559553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T"/>
          </a:p>
        </p:txBody>
      </p:sp>
      <p:sp>
        <p:nvSpPr>
          <p:cNvPr id="6" name="Slide Number Placeholder 5">
            <a:extLst>
              <a:ext uri="{FF2B5EF4-FFF2-40B4-BE49-F238E27FC236}">
                <a16:creationId xmlns:a16="http://schemas.microsoft.com/office/drawing/2014/main" id="{4D1F8A73-21AB-6CC1-C9E8-4FD405DEA6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D6C7A5-589E-574C-BE1D-9970F2AC1A95}" type="slidenum">
              <a:rPr lang="en-IT" smtClean="0"/>
              <a:t>‹#›</a:t>
            </a:fld>
            <a:endParaRPr lang="en-IT"/>
          </a:p>
        </p:txBody>
      </p:sp>
    </p:spTree>
    <p:extLst>
      <p:ext uri="{BB962C8B-B14F-4D97-AF65-F5344CB8AC3E}">
        <p14:creationId xmlns:p14="http://schemas.microsoft.com/office/powerpoint/2010/main" val="2936301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https://openscience101.org/media/scorm/828048903ed84e099319ef20044a7779/750b226e9a115cf30a5860fe19519f11eb883070/scormcontent/assets/LZlVcKhI2DSscdlH_PBRHkTLfmu_4EWWm.png"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https://openscience101.org/media/scorm/a0604c4a4284482c85fb8e94ebf7dc89/dfad49632269c8c6cfe6f50fc06ad4e7891fdbc8/scormcontent/assets/MRNFj61ZuFDv8-Yz_dAEFz7yFEV0W6piH.jpg" TargetMode="External"/><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https://openscience101.org/media/scorm/6c6aecc3f0e641c783058aafcb14fa7c/c7ac46513fc885b780a6d5806292f47ce31c1eab/scormcontent/assets/fWhGgwPVLPQcoAVR_ZjYkVXxlfYNejlzL.png" TargetMode="External"/><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https://openscience101.org/media/scorm/48e7a874530d4cd8bdff7c6270ec3220/87d02cce9b1b03d26ca636219946304763e5179f/scormcontent/assets/sLcKAQGh2O7kGxfN_MqExsTGQZ_Ijm5BY.png" TargetMode="External"/><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1BE8F-BA98-2F2A-75DE-B9D0FB51A0EB}"/>
              </a:ext>
            </a:extLst>
          </p:cNvPr>
          <p:cNvSpPr>
            <a:spLocks noGrp="1"/>
          </p:cNvSpPr>
          <p:nvPr>
            <p:ph type="ctrTitle"/>
          </p:nvPr>
        </p:nvSpPr>
        <p:spPr/>
        <p:txBody>
          <a:bodyPr>
            <a:normAutofit/>
          </a:bodyPr>
          <a:lstStyle/>
          <a:p>
            <a:r>
              <a:rPr lang="en-GB" sz="4000" dirty="0">
                <a:effectLst/>
                <a:latin typeface="Helvetica" pitchFamily="2" charset="0"/>
              </a:rPr>
              <a:t>Advancing Gulf Coast Environmental Justice Leadership &amp; Engagement in Open Science</a:t>
            </a:r>
            <a:br>
              <a:rPr lang="en-GB" sz="4000" dirty="0">
                <a:effectLst/>
                <a:latin typeface="Helvetica" pitchFamily="2" charset="0"/>
              </a:rPr>
            </a:br>
            <a:r>
              <a:rPr lang="en-GB" sz="4000" dirty="0">
                <a:effectLst/>
                <a:latin typeface="Helvetica" pitchFamily="2" charset="0"/>
              </a:rPr>
              <a:t>(</a:t>
            </a:r>
            <a:r>
              <a:rPr lang="en-GB" sz="4000" dirty="0" err="1">
                <a:effectLst/>
                <a:latin typeface="Helvetica" pitchFamily="2" charset="0"/>
              </a:rPr>
              <a:t>AGEJLE</a:t>
            </a:r>
            <a:r>
              <a:rPr lang="en-GB" sz="4000" dirty="0">
                <a:effectLst/>
                <a:latin typeface="Helvetica" pitchFamily="2" charset="0"/>
              </a:rPr>
              <a:t>-OS)</a:t>
            </a:r>
            <a:endParaRPr lang="en-IT" sz="4000" dirty="0"/>
          </a:p>
        </p:txBody>
      </p:sp>
      <p:sp>
        <p:nvSpPr>
          <p:cNvPr id="3" name="Subtitle 2">
            <a:extLst>
              <a:ext uri="{FF2B5EF4-FFF2-40B4-BE49-F238E27FC236}">
                <a16:creationId xmlns:a16="http://schemas.microsoft.com/office/drawing/2014/main" id="{6D68FDCE-D348-EA4B-49F8-0B0FADC61580}"/>
              </a:ext>
            </a:extLst>
          </p:cNvPr>
          <p:cNvSpPr>
            <a:spLocks noGrp="1"/>
          </p:cNvSpPr>
          <p:nvPr>
            <p:ph type="subTitle" idx="1"/>
          </p:nvPr>
        </p:nvSpPr>
        <p:spPr/>
        <p:txBody>
          <a:bodyPr/>
          <a:lstStyle/>
          <a:p>
            <a:r>
              <a:rPr lang="en-IT" dirty="0"/>
              <a:t>First convening of community open science champions</a:t>
            </a:r>
          </a:p>
          <a:p>
            <a:r>
              <a:rPr lang="en-IT" dirty="0"/>
              <a:t>Feb 16th, 2024</a:t>
            </a:r>
          </a:p>
        </p:txBody>
      </p:sp>
    </p:spTree>
    <p:extLst>
      <p:ext uri="{BB962C8B-B14F-4D97-AF65-F5344CB8AC3E}">
        <p14:creationId xmlns:p14="http://schemas.microsoft.com/office/powerpoint/2010/main" val="2821468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F319-21D8-87AB-80D5-7E7B1742723D}"/>
              </a:ext>
            </a:extLst>
          </p:cNvPr>
          <p:cNvSpPr>
            <a:spLocks noGrp="1"/>
          </p:cNvSpPr>
          <p:nvPr>
            <p:ph type="title"/>
          </p:nvPr>
        </p:nvSpPr>
        <p:spPr/>
        <p:txBody>
          <a:bodyPr/>
          <a:lstStyle/>
          <a:p>
            <a:r>
              <a:rPr lang="en-IT" dirty="0"/>
              <a:t>Agenda</a:t>
            </a:r>
          </a:p>
        </p:txBody>
      </p:sp>
      <p:sp>
        <p:nvSpPr>
          <p:cNvPr id="3" name="Content Placeholder 2">
            <a:extLst>
              <a:ext uri="{FF2B5EF4-FFF2-40B4-BE49-F238E27FC236}">
                <a16:creationId xmlns:a16="http://schemas.microsoft.com/office/drawing/2014/main" id="{239E3D92-F5BC-1F33-9E65-5D273AD893B0}"/>
              </a:ext>
            </a:extLst>
          </p:cNvPr>
          <p:cNvSpPr>
            <a:spLocks noGrp="1"/>
          </p:cNvSpPr>
          <p:nvPr>
            <p:ph idx="1"/>
          </p:nvPr>
        </p:nvSpPr>
        <p:spPr/>
        <p:txBody>
          <a:bodyPr>
            <a:normAutofit lnSpcReduction="10000"/>
          </a:bodyPr>
          <a:lstStyle/>
          <a:p>
            <a:r>
              <a:rPr lang="en-GB" dirty="0"/>
              <a:t>Opening and introductions (ice breaker) </a:t>
            </a:r>
          </a:p>
          <a:p>
            <a:r>
              <a:rPr lang="en-GB" dirty="0"/>
              <a:t>Review convening purpose and plan for sessions</a:t>
            </a:r>
          </a:p>
          <a:p>
            <a:r>
              <a:rPr lang="en-GB" dirty="0" err="1"/>
              <a:t>S1</a:t>
            </a:r>
            <a:r>
              <a:rPr lang="en-GB" dirty="0"/>
              <a:t>: Truth, Justice, Beauty – how can openness improve science and advance </a:t>
            </a:r>
            <a:r>
              <a:rPr lang="en-GB" dirty="0" err="1"/>
              <a:t>EJ</a:t>
            </a:r>
            <a:endParaRPr lang="en-GB" dirty="0"/>
          </a:p>
          <a:p>
            <a:r>
              <a:rPr lang="en-GB" dirty="0" err="1"/>
              <a:t>S2</a:t>
            </a:r>
            <a:r>
              <a:rPr lang="en-GB" dirty="0"/>
              <a:t>: Misinformation is free</a:t>
            </a:r>
          </a:p>
          <a:p>
            <a:r>
              <a:rPr lang="en-GB" dirty="0" err="1"/>
              <a:t>S3</a:t>
            </a:r>
            <a:r>
              <a:rPr lang="en-GB" dirty="0"/>
              <a:t>: More ‘we’ science and less ‘me’ science</a:t>
            </a:r>
          </a:p>
          <a:p>
            <a:r>
              <a:rPr lang="en-GB" dirty="0" err="1"/>
              <a:t>S4</a:t>
            </a:r>
            <a:r>
              <a:rPr lang="en-GB" dirty="0"/>
              <a:t>: Protecting privacy and promote data security </a:t>
            </a:r>
          </a:p>
          <a:p>
            <a:r>
              <a:rPr lang="en-GB" dirty="0" err="1"/>
              <a:t>S5</a:t>
            </a:r>
            <a:r>
              <a:rPr lang="en-GB" dirty="0"/>
              <a:t>: Lowering barriers and planning for Open Science</a:t>
            </a:r>
          </a:p>
          <a:p>
            <a:r>
              <a:rPr lang="en-GB" dirty="0" err="1"/>
              <a:t>S6</a:t>
            </a:r>
            <a:r>
              <a:rPr lang="en-GB" dirty="0"/>
              <a:t>: Obtaining the ‘Ethos of Open Science’ badge</a:t>
            </a:r>
          </a:p>
          <a:p>
            <a:endParaRPr lang="en-GB" dirty="0"/>
          </a:p>
          <a:p>
            <a:endParaRPr lang="en-IT" dirty="0"/>
          </a:p>
        </p:txBody>
      </p:sp>
    </p:spTree>
    <p:extLst>
      <p:ext uri="{BB962C8B-B14F-4D97-AF65-F5344CB8AC3E}">
        <p14:creationId xmlns:p14="http://schemas.microsoft.com/office/powerpoint/2010/main" val="1303590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3A36C-45AA-0839-30B8-BD8437B3C099}"/>
              </a:ext>
            </a:extLst>
          </p:cNvPr>
          <p:cNvSpPr>
            <a:spLocks noGrp="1"/>
          </p:cNvSpPr>
          <p:nvPr>
            <p:ph type="title"/>
          </p:nvPr>
        </p:nvSpPr>
        <p:spPr/>
        <p:txBody>
          <a:bodyPr/>
          <a:lstStyle/>
          <a:p>
            <a:r>
              <a:rPr lang="en-IT" dirty="0"/>
              <a:t>Opening</a:t>
            </a:r>
          </a:p>
        </p:txBody>
      </p:sp>
      <p:sp>
        <p:nvSpPr>
          <p:cNvPr id="3" name="Content Placeholder 2">
            <a:extLst>
              <a:ext uri="{FF2B5EF4-FFF2-40B4-BE49-F238E27FC236}">
                <a16:creationId xmlns:a16="http://schemas.microsoft.com/office/drawing/2014/main" id="{25404E18-F4BF-3B12-57CA-47C84522630A}"/>
              </a:ext>
            </a:extLst>
          </p:cNvPr>
          <p:cNvSpPr>
            <a:spLocks noGrp="1"/>
          </p:cNvSpPr>
          <p:nvPr>
            <p:ph idx="1"/>
          </p:nvPr>
        </p:nvSpPr>
        <p:spPr/>
        <p:txBody>
          <a:bodyPr/>
          <a:lstStyle/>
          <a:p>
            <a:r>
              <a:rPr lang="en-IT" dirty="0"/>
              <a:t>Ice breaker</a:t>
            </a:r>
          </a:p>
          <a:p>
            <a:pPr lvl="1"/>
            <a:r>
              <a:rPr lang="en-GB" dirty="0"/>
              <a:t>P</a:t>
            </a:r>
            <a:r>
              <a:rPr lang="en-IT" dirty="0"/>
              <a:t>re-session </a:t>
            </a:r>
            <a:r>
              <a:rPr lang="en-GB" dirty="0"/>
              <a:t>questionnaire</a:t>
            </a:r>
            <a:endParaRPr lang="en-IT" dirty="0"/>
          </a:p>
          <a:p>
            <a:pPr lvl="2"/>
            <a:r>
              <a:rPr lang="en-IT" dirty="0"/>
              <a:t>Feelings about science (one word)</a:t>
            </a:r>
          </a:p>
          <a:p>
            <a:pPr lvl="2"/>
            <a:r>
              <a:rPr lang="en-IT" dirty="0"/>
              <a:t>Experience with research</a:t>
            </a:r>
          </a:p>
          <a:p>
            <a:pPr lvl="2"/>
            <a:endParaRPr lang="en-IT" dirty="0"/>
          </a:p>
          <a:p>
            <a:pPr lvl="2"/>
            <a:endParaRPr lang="en-IT" dirty="0"/>
          </a:p>
          <a:p>
            <a:endParaRPr lang="en-IT" dirty="0"/>
          </a:p>
          <a:p>
            <a:endParaRPr lang="en-IT" dirty="0"/>
          </a:p>
        </p:txBody>
      </p:sp>
    </p:spTree>
    <p:extLst>
      <p:ext uri="{BB962C8B-B14F-4D97-AF65-F5344CB8AC3E}">
        <p14:creationId xmlns:p14="http://schemas.microsoft.com/office/powerpoint/2010/main" val="2082129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0976E-0956-794B-600C-A63092BB7610}"/>
              </a:ext>
            </a:extLst>
          </p:cNvPr>
          <p:cNvSpPr>
            <a:spLocks noGrp="1"/>
          </p:cNvSpPr>
          <p:nvPr>
            <p:ph type="title"/>
          </p:nvPr>
        </p:nvSpPr>
        <p:spPr/>
        <p:txBody>
          <a:bodyPr/>
          <a:lstStyle/>
          <a:p>
            <a:r>
              <a:rPr lang="en-IT" dirty="0"/>
              <a:t>Purpose and agenda</a:t>
            </a:r>
          </a:p>
        </p:txBody>
      </p:sp>
      <p:sp>
        <p:nvSpPr>
          <p:cNvPr id="3" name="Content Placeholder 2">
            <a:extLst>
              <a:ext uri="{FF2B5EF4-FFF2-40B4-BE49-F238E27FC236}">
                <a16:creationId xmlns:a16="http://schemas.microsoft.com/office/drawing/2014/main" id="{A5F28C42-4E85-44F4-465D-3F08DA6EB9F1}"/>
              </a:ext>
            </a:extLst>
          </p:cNvPr>
          <p:cNvSpPr>
            <a:spLocks noGrp="1"/>
          </p:cNvSpPr>
          <p:nvPr>
            <p:ph idx="1"/>
          </p:nvPr>
        </p:nvSpPr>
        <p:spPr/>
        <p:txBody>
          <a:bodyPr>
            <a:normAutofit/>
          </a:bodyPr>
          <a:lstStyle/>
          <a:p>
            <a:r>
              <a:rPr lang="en-IT" dirty="0"/>
              <a:t>Purpose</a:t>
            </a:r>
          </a:p>
          <a:p>
            <a:pPr lvl="1"/>
            <a:r>
              <a:rPr lang="en-GB" dirty="0"/>
              <a:t>Introduce NASA TOPS and go through process of earning first Open Science badge</a:t>
            </a:r>
          </a:p>
          <a:p>
            <a:pPr lvl="1"/>
            <a:r>
              <a:rPr lang="en-GB" dirty="0"/>
              <a:t>Begin process of clarifying, editing, reframing, and adding to Open Science concepts so that they are relevant to </a:t>
            </a:r>
            <a:r>
              <a:rPr lang="en-GB" dirty="0" err="1"/>
              <a:t>EJ</a:t>
            </a:r>
            <a:r>
              <a:rPr lang="en-GB" dirty="0"/>
              <a:t> communities</a:t>
            </a:r>
          </a:p>
          <a:p>
            <a:pPr lvl="1"/>
            <a:r>
              <a:rPr lang="en-GB" dirty="0"/>
              <a:t>Identify </a:t>
            </a:r>
            <a:r>
              <a:rPr lang="en-GB" dirty="0" err="1"/>
              <a:t>EJ</a:t>
            </a:r>
            <a:r>
              <a:rPr lang="en-GB" dirty="0"/>
              <a:t>-OS research priorities and begin process of adapting or substituting existing OS capacity development materials and OS tools so that they are fit for </a:t>
            </a:r>
            <a:r>
              <a:rPr lang="en-GB" dirty="0" err="1"/>
              <a:t>EJ</a:t>
            </a:r>
            <a:r>
              <a:rPr lang="en-GB" dirty="0"/>
              <a:t> community-led research purpose</a:t>
            </a:r>
          </a:p>
          <a:p>
            <a:r>
              <a:rPr lang="en-GB" dirty="0"/>
              <a:t>Agenda</a:t>
            </a:r>
          </a:p>
          <a:p>
            <a:endParaRPr lang="en-GB" dirty="0"/>
          </a:p>
          <a:p>
            <a:endParaRPr lang="en-IT" dirty="0"/>
          </a:p>
        </p:txBody>
      </p:sp>
    </p:spTree>
    <p:extLst>
      <p:ext uri="{BB962C8B-B14F-4D97-AF65-F5344CB8AC3E}">
        <p14:creationId xmlns:p14="http://schemas.microsoft.com/office/powerpoint/2010/main" val="1214481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F319-21D8-87AB-80D5-7E7B1742723D}"/>
              </a:ext>
            </a:extLst>
          </p:cNvPr>
          <p:cNvSpPr>
            <a:spLocks noGrp="1"/>
          </p:cNvSpPr>
          <p:nvPr>
            <p:ph type="title"/>
          </p:nvPr>
        </p:nvSpPr>
        <p:spPr/>
        <p:txBody>
          <a:bodyPr/>
          <a:lstStyle/>
          <a:p>
            <a:r>
              <a:rPr lang="en-IT" dirty="0"/>
              <a:t>Agenda with timing</a:t>
            </a:r>
          </a:p>
        </p:txBody>
      </p:sp>
      <p:sp>
        <p:nvSpPr>
          <p:cNvPr id="3" name="Content Placeholder 2">
            <a:extLst>
              <a:ext uri="{FF2B5EF4-FFF2-40B4-BE49-F238E27FC236}">
                <a16:creationId xmlns:a16="http://schemas.microsoft.com/office/drawing/2014/main" id="{239E3D92-F5BC-1F33-9E65-5D273AD893B0}"/>
              </a:ext>
            </a:extLst>
          </p:cNvPr>
          <p:cNvSpPr>
            <a:spLocks noGrp="1"/>
          </p:cNvSpPr>
          <p:nvPr>
            <p:ph idx="1"/>
          </p:nvPr>
        </p:nvSpPr>
        <p:spPr/>
        <p:txBody>
          <a:bodyPr>
            <a:normAutofit fontScale="92500" lnSpcReduction="20000"/>
          </a:bodyPr>
          <a:lstStyle/>
          <a:p>
            <a:r>
              <a:rPr lang="en-GB" dirty="0"/>
              <a:t>10:00 –10:30  -- Opening and introductions (ice breaker &amp; coffee) </a:t>
            </a:r>
          </a:p>
          <a:p>
            <a:r>
              <a:rPr lang="en-GB" dirty="0"/>
              <a:t>10:30 – 11:00 -- Review convening purpose and plan for sessions</a:t>
            </a:r>
          </a:p>
          <a:p>
            <a:r>
              <a:rPr lang="en-GB" dirty="0"/>
              <a:t>11:00 – 11:45 -- </a:t>
            </a:r>
            <a:r>
              <a:rPr lang="en-GB" dirty="0" err="1"/>
              <a:t>S1</a:t>
            </a:r>
            <a:r>
              <a:rPr lang="en-GB" dirty="0"/>
              <a:t>: Truth, Justice, Beauty – how can openness improve science and advance </a:t>
            </a:r>
            <a:r>
              <a:rPr lang="en-GB" dirty="0" err="1"/>
              <a:t>EJ</a:t>
            </a:r>
            <a:endParaRPr lang="en-GB" dirty="0"/>
          </a:p>
          <a:p>
            <a:r>
              <a:rPr lang="en-GB" dirty="0"/>
              <a:t>11:45 – 12:30 -- </a:t>
            </a:r>
            <a:r>
              <a:rPr lang="en-GB" dirty="0" err="1"/>
              <a:t>S2</a:t>
            </a:r>
            <a:r>
              <a:rPr lang="en-GB" dirty="0"/>
              <a:t>: Misinformation is free</a:t>
            </a:r>
          </a:p>
          <a:p>
            <a:r>
              <a:rPr lang="en-GB" dirty="0"/>
              <a:t>12:30 – 1:30   -- Lunch (provided)</a:t>
            </a:r>
          </a:p>
          <a:p>
            <a:r>
              <a:rPr lang="en-GB" dirty="0"/>
              <a:t>1:30 – 2:15 -- </a:t>
            </a:r>
            <a:r>
              <a:rPr lang="en-GB" dirty="0" err="1"/>
              <a:t>S3</a:t>
            </a:r>
            <a:r>
              <a:rPr lang="en-GB" dirty="0"/>
              <a:t>: More ‘we’ science and less ‘me’ science</a:t>
            </a:r>
          </a:p>
          <a:p>
            <a:r>
              <a:rPr lang="en-GB" dirty="0"/>
              <a:t>2:15 – 2:45 -- </a:t>
            </a:r>
            <a:r>
              <a:rPr lang="en-GB" dirty="0" err="1"/>
              <a:t>S4</a:t>
            </a:r>
            <a:r>
              <a:rPr lang="en-GB" dirty="0"/>
              <a:t>: Protecting privacy and promote data security </a:t>
            </a:r>
          </a:p>
          <a:p>
            <a:r>
              <a:rPr lang="en-GB" dirty="0"/>
              <a:t>2:45 – 3:15 -- </a:t>
            </a:r>
            <a:r>
              <a:rPr lang="en-GB" dirty="0" err="1"/>
              <a:t>S5</a:t>
            </a:r>
            <a:r>
              <a:rPr lang="en-GB" dirty="0"/>
              <a:t>: Lowering barriers and planning for Open Science</a:t>
            </a:r>
          </a:p>
          <a:p>
            <a:r>
              <a:rPr lang="en-GB" dirty="0"/>
              <a:t>3:15 – 3:45 -- </a:t>
            </a:r>
            <a:r>
              <a:rPr lang="en-GB" dirty="0" err="1"/>
              <a:t>S6</a:t>
            </a:r>
            <a:r>
              <a:rPr lang="en-GB" dirty="0"/>
              <a:t>: Obtaining the ‘Ethos of Open Science’ badge</a:t>
            </a:r>
          </a:p>
          <a:p>
            <a:r>
              <a:rPr lang="en-GB" dirty="0"/>
              <a:t>3:45 – 4:00 – Closing and next steps</a:t>
            </a:r>
          </a:p>
          <a:p>
            <a:endParaRPr lang="en-GB" dirty="0"/>
          </a:p>
          <a:p>
            <a:endParaRPr lang="en-IT" dirty="0"/>
          </a:p>
        </p:txBody>
      </p:sp>
    </p:spTree>
    <p:extLst>
      <p:ext uri="{BB962C8B-B14F-4D97-AF65-F5344CB8AC3E}">
        <p14:creationId xmlns:p14="http://schemas.microsoft.com/office/powerpoint/2010/main" val="4235576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17B5A-A34A-F67D-2595-B28B9EBFE424}"/>
              </a:ext>
            </a:extLst>
          </p:cNvPr>
          <p:cNvSpPr>
            <a:spLocks noGrp="1"/>
          </p:cNvSpPr>
          <p:nvPr>
            <p:ph type="title"/>
          </p:nvPr>
        </p:nvSpPr>
        <p:spPr/>
        <p:txBody>
          <a:bodyPr/>
          <a:lstStyle/>
          <a:p>
            <a:r>
              <a:rPr lang="en-GB" dirty="0" err="1"/>
              <a:t>S1</a:t>
            </a:r>
            <a:r>
              <a:rPr lang="en-GB" dirty="0"/>
              <a:t>: Truth, Justice, Beauty – how can openness improve science and advance </a:t>
            </a:r>
            <a:r>
              <a:rPr lang="en-GB" dirty="0" err="1"/>
              <a:t>EJ</a:t>
            </a:r>
            <a:endParaRPr lang="en-IT" dirty="0"/>
          </a:p>
        </p:txBody>
      </p:sp>
      <p:sp>
        <p:nvSpPr>
          <p:cNvPr id="3" name="Content Placeholder 2">
            <a:extLst>
              <a:ext uri="{FF2B5EF4-FFF2-40B4-BE49-F238E27FC236}">
                <a16:creationId xmlns:a16="http://schemas.microsoft.com/office/drawing/2014/main" id="{5DFDCBB4-7E75-13F5-ED33-AE506518DD24}"/>
              </a:ext>
            </a:extLst>
          </p:cNvPr>
          <p:cNvSpPr>
            <a:spLocks noGrp="1"/>
          </p:cNvSpPr>
          <p:nvPr>
            <p:ph idx="1"/>
          </p:nvPr>
        </p:nvSpPr>
        <p:spPr/>
        <p:txBody>
          <a:bodyPr/>
          <a:lstStyle/>
          <a:p>
            <a:r>
              <a:rPr lang="en-IT" dirty="0"/>
              <a:t>Good, Bad, Ugly experiences with research</a:t>
            </a:r>
          </a:p>
          <a:p>
            <a:pPr lvl="1"/>
            <a:r>
              <a:rPr lang="en-GB" dirty="0"/>
              <a:t>C</a:t>
            </a:r>
            <a:r>
              <a:rPr lang="en-IT" dirty="0"/>
              <a:t>apture key points from experience on post-its in each gbu </a:t>
            </a:r>
          </a:p>
          <a:p>
            <a:pPr lvl="1"/>
            <a:r>
              <a:rPr lang="en-GB" dirty="0"/>
              <a:t>L</a:t>
            </a:r>
            <a:r>
              <a:rPr lang="en-IT" dirty="0"/>
              <a:t>ook for groups and patterns</a:t>
            </a:r>
          </a:p>
          <a:p>
            <a:r>
              <a:rPr lang="en-IT" dirty="0"/>
              <a:t>Reflection on why research is important to EJ</a:t>
            </a:r>
          </a:p>
          <a:p>
            <a:r>
              <a:rPr lang="en-IT" dirty="0"/>
              <a:t>Definitions of terms</a:t>
            </a:r>
          </a:p>
          <a:p>
            <a:pPr lvl="1"/>
            <a:r>
              <a:rPr lang="en-IT" dirty="0"/>
              <a:t>Research </a:t>
            </a:r>
          </a:p>
          <a:p>
            <a:pPr lvl="1"/>
            <a:r>
              <a:rPr lang="en-GB" dirty="0"/>
              <a:t>S</a:t>
            </a:r>
            <a:r>
              <a:rPr lang="en-IT" dirty="0"/>
              <a:t>cience </a:t>
            </a:r>
          </a:p>
          <a:p>
            <a:pPr lvl="1"/>
            <a:r>
              <a:rPr lang="en-IT" dirty="0"/>
              <a:t>Environmental justice</a:t>
            </a:r>
          </a:p>
          <a:p>
            <a:r>
              <a:rPr lang="en-IT" dirty="0"/>
              <a:t>Term sorting next slide</a:t>
            </a:r>
          </a:p>
          <a:p>
            <a:pPr lvl="1"/>
            <a:endParaRPr lang="en-IT" dirty="0"/>
          </a:p>
        </p:txBody>
      </p:sp>
    </p:spTree>
    <p:extLst>
      <p:ext uri="{BB962C8B-B14F-4D97-AF65-F5344CB8AC3E}">
        <p14:creationId xmlns:p14="http://schemas.microsoft.com/office/powerpoint/2010/main" val="513211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C0FB2-821D-A849-6B77-582FBC076B9D}"/>
              </a:ext>
            </a:extLst>
          </p:cNvPr>
          <p:cNvSpPr>
            <a:spLocks noGrp="1"/>
          </p:cNvSpPr>
          <p:nvPr>
            <p:ph type="title"/>
          </p:nvPr>
        </p:nvSpPr>
        <p:spPr/>
        <p:txBody>
          <a:bodyPr/>
          <a:lstStyle/>
          <a:p>
            <a:endParaRPr lang="en-IT"/>
          </a:p>
        </p:txBody>
      </p:sp>
      <p:sp>
        <p:nvSpPr>
          <p:cNvPr id="3" name="Content Placeholder 2">
            <a:extLst>
              <a:ext uri="{FF2B5EF4-FFF2-40B4-BE49-F238E27FC236}">
                <a16:creationId xmlns:a16="http://schemas.microsoft.com/office/drawing/2014/main" id="{C6874693-5E3E-1345-DAB5-DCA1AAEF6E58}"/>
              </a:ext>
            </a:extLst>
          </p:cNvPr>
          <p:cNvSpPr>
            <a:spLocks noGrp="1"/>
          </p:cNvSpPr>
          <p:nvPr>
            <p:ph idx="1"/>
          </p:nvPr>
        </p:nvSpPr>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en-IT" sz="1800" kern="100" dirty="0">
                <a:effectLst/>
                <a:latin typeface="Calibri" panose="020F0502020204030204" pitchFamily="34" charset="0"/>
                <a:ea typeface="Calibri" panose="020F0502020204030204" pitchFamily="34" charset="0"/>
                <a:cs typeface="Times New Roman" panose="02020603050405020304" pitchFamily="18" charset="0"/>
              </a:rPr>
              <a:t>Open Science is the principle and practice of making research products and processes available to all, while respecting diverse cultures, maintaining security and privacy, and fostering collaborations, reproducibility, and equity.</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endParaRPr lang="en-IT"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T" sz="1800" kern="100" dirty="0">
                <a:effectLst/>
                <a:latin typeface="Calibri" panose="020F0502020204030204" pitchFamily="34" charset="0"/>
                <a:ea typeface="Calibri" panose="020F0502020204030204" pitchFamily="34" charset="0"/>
                <a:cs typeface="Times New Roman" panose="02020603050405020304" pitchFamily="18" charset="0"/>
              </a:rPr>
              <a:t>The White House Office of Science and Technology Policy Memo, 2022 (adapted)</a:t>
            </a:r>
          </a:p>
          <a:p>
            <a:r>
              <a:rPr lang="en-IT" sz="1800" kern="100" dirty="0">
                <a:effectLst/>
                <a:latin typeface="Calibri" panose="020F0502020204030204" pitchFamily="34" charset="0"/>
                <a:ea typeface="Calibri" panose="020F0502020204030204" pitchFamily="34" charset="0"/>
                <a:cs typeface="Times New Roman" panose="02020603050405020304" pitchFamily="18" charset="0"/>
              </a:rPr>
              <a:t>Research products and processes should be available to all, not just a small subset of experts, particularly if funded with public funds.</a:t>
            </a:r>
          </a:p>
          <a:p>
            <a:endParaRPr lang="en-IT" dirty="0"/>
          </a:p>
        </p:txBody>
      </p:sp>
    </p:spTree>
    <p:extLst>
      <p:ext uri="{BB962C8B-B14F-4D97-AF65-F5344CB8AC3E}">
        <p14:creationId xmlns:p14="http://schemas.microsoft.com/office/powerpoint/2010/main" val="2309461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B3419-928E-E31F-8A2D-C88B7CDF77DD}"/>
              </a:ext>
            </a:extLst>
          </p:cNvPr>
          <p:cNvSpPr>
            <a:spLocks noGrp="1"/>
          </p:cNvSpPr>
          <p:nvPr>
            <p:ph type="title"/>
          </p:nvPr>
        </p:nvSpPr>
        <p:spPr/>
        <p:txBody>
          <a:bodyPr/>
          <a:lstStyle/>
          <a:p>
            <a:r>
              <a:rPr lang="en-IT" dirty="0"/>
              <a:t>S1: Term sorting (put words on postits to sort)</a:t>
            </a:r>
          </a:p>
        </p:txBody>
      </p:sp>
      <p:sp>
        <p:nvSpPr>
          <p:cNvPr id="3" name="Content Placeholder 2">
            <a:extLst>
              <a:ext uri="{FF2B5EF4-FFF2-40B4-BE49-F238E27FC236}">
                <a16:creationId xmlns:a16="http://schemas.microsoft.com/office/drawing/2014/main" id="{E15E4D57-4649-B495-625C-924B107AE21C}"/>
              </a:ext>
            </a:extLst>
          </p:cNvPr>
          <p:cNvSpPr>
            <a:spLocks noGrp="1"/>
          </p:cNvSpPr>
          <p:nvPr>
            <p:ph idx="1"/>
          </p:nvPr>
        </p:nvSpPr>
        <p:spPr/>
        <p:txBody>
          <a:bodyPr>
            <a:noAutofit/>
          </a:bodyPr>
          <a:lstStyle/>
          <a:p>
            <a:r>
              <a:rPr lang="en-GB" sz="1800" dirty="0"/>
              <a:t>Reproducibility is the primary foundation of ‘scientific’ truth</a:t>
            </a:r>
          </a:p>
          <a:p>
            <a:pPr lvl="1"/>
            <a:r>
              <a:rPr lang="en-GB" sz="1400" dirty="0"/>
              <a:t>Truth is established in divine ways, scientific ways, and potentially other ways</a:t>
            </a:r>
            <a:endParaRPr lang="en-GB" sz="1800" dirty="0"/>
          </a:p>
          <a:p>
            <a:r>
              <a:rPr lang="en-GB" sz="1800" dirty="0"/>
              <a:t>Observations</a:t>
            </a:r>
          </a:p>
          <a:p>
            <a:pPr lvl="1"/>
            <a:r>
              <a:rPr lang="en-GB" sz="1400" dirty="0"/>
              <a:t>Data</a:t>
            </a:r>
          </a:p>
          <a:p>
            <a:pPr lvl="1"/>
            <a:r>
              <a:rPr lang="en-GB" sz="1400" dirty="0"/>
              <a:t>Information</a:t>
            </a:r>
          </a:p>
          <a:p>
            <a:pPr lvl="1"/>
            <a:r>
              <a:rPr lang="en-GB" sz="1400" dirty="0"/>
              <a:t>Measurement</a:t>
            </a:r>
          </a:p>
          <a:p>
            <a:r>
              <a:rPr lang="en-GB" sz="1800" dirty="0"/>
              <a:t>Transformed</a:t>
            </a:r>
          </a:p>
          <a:p>
            <a:pPr lvl="1"/>
            <a:r>
              <a:rPr lang="en-GB" sz="1400" dirty="0"/>
              <a:t>Analysis</a:t>
            </a:r>
          </a:p>
          <a:p>
            <a:pPr lvl="1"/>
            <a:r>
              <a:rPr lang="en-GB" sz="1400" dirty="0"/>
              <a:t>Processing</a:t>
            </a:r>
          </a:p>
          <a:p>
            <a:pPr lvl="1"/>
            <a:r>
              <a:rPr lang="en-GB" sz="1400" dirty="0"/>
              <a:t>Reflection</a:t>
            </a:r>
          </a:p>
          <a:p>
            <a:r>
              <a:rPr lang="en-GB" sz="1800" dirty="0"/>
              <a:t>Results</a:t>
            </a:r>
          </a:p>
          <a:p>
            <a:pPr lvl="1"/>
            <a:r>
              <a:rPr lang="en-GB" sz="1400" dirty="0"/>
              <a:t>Outcomes</a:t>
            </a:r>
          </a:p>
          <a:p>
            <a:r>
              <a:rPr lang="en-GB" sz="1800" dirty="0"/>
              <a:t>Systematic process</a:t>
            </a:r>
          </a:p>
          <a:p>
            <a:pPr lvl="1"/>
            <a:r>
              <a:rPr lang="en-GB" sz="1400" dirty="0"/>
              <a:t>For science that is reproducibility</a:t>
            </a:r>
          </a:p>
          <a:p>
            <a:pPr lvl="1"/>
            <a:r>
              <a:rPr lang="en-GB" sz="1400" dirty="0"/>
              <a:t>For wisdom traditions -- it is discernment. </a:t>
            </a:r>
          </a:p>
          <a:p>
            <a:pPr lvl="1"/>
            <a:r>
              <a:rPr lang="en-GB" sz="1400" dirty="0"/>
              <a:t>Others</a:t>
            </a:r>
            <a:br>
              <a:rPr lang="en-GB" sz="1400" dirty="0"/>
            </a:br>
            <a:endParaRPr lang="en-GB" sz="1400" dirty="0"/>
          </a:p>
          <a:p>
            <a:endParaRPr lang="en-IT" sz="1800" dirty="0"/>
          </a:p>
        </p:txBody>
      </p:sp>
    </p:spTree>
    <p:extLst>
      <p:ext uri="{BB962C8B-B14F-4D97-AF65-F5344CB8AC3E}">
        <p14:creationId xmlns:p14="http://schemas.microsoft.com/office/powerpoint/2010/main" val="1341572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BC912-1029-A801-0313-E254FF7F6361}"/>
              </a:ext>
            </a:extLst>
          </p:cNvPr>
          <p:cNvSpPr>
            <a:spLocks noGrp="1"/>
          </p:cNvSpPr>
          <p:nvPr>
            <p:ph type="title"/>
          </p:nvPr>
        </p:nvSpPr>
        <p:spPr/>
        <p:txBody>
          <a:bodyPr/>
          <a:lstStyle/>
          <a:p>
            <a:r>
              <a:rPr lang="en-IT" dirty="0"/>
              <a:t>S1: continued</a:t>
            </a:r>
          </a:p>
        </p:txBody>
      </p:sp>
      <p:sp>
        <p:nvSpPr>
          <p:cNvPr id="3" name="Content Placeholder 2">
            <a:extLst>
              <a:ext uri="{FF2B5EF4-FFF2-40B4-BE49-F238E27FC236}">
                <a16:creationId xmlns:a16="http://schemas.microsoft.com/office/drawing/2014/main" id="{BF3D1B46-7650-8538-12C3-FA1E5C4080EB}"/>
              </a:ext>
            </a:extLst>
          </p:cNvPr>
          <p:cNvSpPr>
            <a:spLocks noGrp="1"/>
          </p:cNvSpPr>
          <p:nvPr>
            <p:ph idx="1"/>
          </p:nvPr>
        </p:nvSpPr>
        <p:spPr/>
        <p:txBody>
          <a:bodyPr>
            <a:normAutofit fontScale="92500" lnSpcReduction="10000"/>
          </a:bodyPr>
          <a:lstStyle/>
          <a:p>
            <a:r>
              <a:rPr lang="en-IT" dirty="0"/>
              <a:t>What is the link between science and justice?</a:t>
            </a:r>
          </a:p>
          <a:p>
            <a:pPr lvl="1"/>
            <a:r>
              <a:rPr lang="en-IT" dirty="0"/>
              <a:t>Go back to post-its – elaborate examples of justice and injustice</a:t>
            </a:r>
          </a:p>
          <a:p>
            <a:pPr lvl="1"/>
            <a:r>
              <a:rPr lang="en-GB" dirty="0"/>
              <a:t>L</a:t>
            </a:r>
            <a:r>
              <a:rPr lang="en-IT" dirty="0"/>
              <a:t>ocking up data (justice deals with uneven power) – importance of equity</a:t>
            </a:r>
          </a:p>
          <a:p>
            <a:pPr lvl="1"/>
            <a:r>
              <a:rPr lang="en-GB" dirty="0"/>
              <a:t>P</a:t>
            </a:r>
            <a:r>
              <a:rPr lang="en-IT" dirty="0"/>
              <a:t>rocedure – agency, inclusion</a:t>
            </a:r>
          </a:p>
          <a:p>
            <a:pPr lvl="1"/>
            <a:r>
              <a:rPr lang="en-GB" dirty="0"/>
              <a:t>R</a:t>
            </a:r>
            <a:r>
              <a:rPr lang="en-IT" dirty="0"/>
              <a:t>ecognition – rights, diversity, focus on some lives and not others</a:t>
            </a:r>
          </a:p>
          <a:p>
            <a:pPr lvl="1"/>
            <a:r>
              <a:rPr lang="en-GB" dirty="0"/>
              <a:t>D</a:t>
            </a:r>
            <a:r>
              <a:rPr lang="en-IT" dirty="0"/>
              <a:t>istributional -- disparities in outcomes – something about truth in measurement – thinking about ‘others’ – science concentrates attention and resources on some people, some places, some issues</a:t>
            </a:r>
          </a:p>
          <a:p>
            <a:pPr lvl="1"/>
            <a:endParaRPr lang="en-IT" dirty="0"/>
          </a:p>
          <a:p>
            <a:r>
              <a:rPr lang="en-IT" dirty="0"/>
              <a:t>“Justice requires truth be in the public domain”</a:t>
            </a:r>
          </a:p>
          <a:p>
            <a:pPr lvl="1"/>
            <a:r>
              <a:rPr lang="en-GB" dirty="0"/>
              <a:t>I</a:t>
            </a:r>
            <a:r>
              <a:rPr lang="en-IT" dirty="0"/>
              <a:t>njustice of institution or group to lock up truth</a:t>
            </a:r>
          </a:p>
          <a:p>
            <a:r>
              <a:rPr lang="en-IT" dirty="0"/>
              <a:t>Justice problem if science is not linked to action</a:t>
            </a:r>
          </a:p>
          <a:p>
            <a:pPr lvl="1"/>
            <a:endParaRPr lang="en-IT" dirty="0"/>
          </a:p>
        </p:txBody>
      </p:sp>
    </p:spTree>
    <p:extLst>
      <p:ext uri="{BB962C8B-B14F-4D97-AF65-F5344CB8AC3E}">
        <p14:creationId xmlns:p14="http://schemas.microsoft.com/office/powerpoint/2010/main" val="4275563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5AD3C2-C5E9-ADA2-3178-DCC90E3B14AA}"/>
              </a:ext>
            </a:extLst>
          </p:cNvPr>
          <p:cNvSpPr>
            <a:spLocks noGrp="1"/>
          </p:cNvSpPr>
          <p:nvPr>
            <p:ph type="title"/>
          </p:nvPr>
        </p:nvSpPr>
        <p:spPr/>
        <p:txBody>
          <a:bodyPr/>
          <a:lstStyle/>
          <a:p>
            <a:r>
              <a:rPr lang="en-IT" dirty="0"/>
              <a:t>S1: Continued</a:t>
            </a:r>
          </a:p>
        </p:txBody>
      </p:sp>
      <p:graphicFrame>
        <p:nvGraphicFramePr>
          <p:cNvPr id="5" name="Diagram 4">
            <a:extLst>
              <a:ext uri="{FF2B5EF4-FFF2-40B4-BE49-F238E27FC236}">
                <a16:creationId xmlns:a16="http://schemas.microsoft.com/office/drawing/2014/main" id="{3C812177-23F2-8E91-ECE0-00F4E10BDAC2}"/>
              </a:ext>
            </a:extLst>
          </p:cNvPr>
          <p:cNvGraphicFramePr/>
          <p:nvPr>
            <p:extLst>
              <p:ext uri="{D42A27DB-BD31-4B8C-83A1-F6EECF244321}">
                <p14:modId xmlns:p14="http://schemas.microsoft.com/office/powerpoint/2010/main" val="623589960"/>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9300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0DB73-800E-B733-C0D0-C5D7D4F40F3D}"/>
              </a:ext>
            </a:extLst>
          </p:cNvPr>
          <p:cNvSpPr>
            <a:spLocks noGrp="1"/>
          </p:cNvSpPr>
          <p:nvPr>
            <p:ph type="title"/>
          </p:nvPr>
        </p:nvSpPr>
        <p:spPr/>
        <p:txBody>
          <a:bodyPr/>
          <a:lstStyle/>
          <a:p>
            <a:r>
              <a:rPr lang="en-IT" dirty="0"/>
              <a:t>S1: cont</a:t>
            </a:r>
          </a:p>
        </p:txBody>
      </p:sp>
      <p:sp>
        <p:nvSpPr>
          <p:cNvPr id="3" name="Content Placeholder 2">
            <a:extLst>
              <a:ext uri="{FF2B5EF4-FFF2-40B4-BE49-F238E27FC236}">
                <a16:creationId xmlns:a16="http://schemas.microsoft.com/office/drawing/2014/main" id="{1DF2FB72-A789-6465-797F-8BB680789EF4}"/>
              </a:ext>
            </a:extLst>
          </p:cNvPr>
          <p:cNvSpPr>
            <a:spLocks noGrp="1"/>
          </p:cNvSpPr>
          <p:nvPr>
            <p:ph idx="1"/>
          </p:nvPr>
        </p:nvSpPr>
        <p:spPr/>
        <p:txBody>
          <a:bodyPr/>
          <a:lstStyle/>
          <a:p>
            <a:r>
              <a:rPr lang="en-IT" dirty="0"/>
              <a:t>What does science need to advance environmental justice?</a:t>
            </a:r>
          </a:p>
          <a:p>
            <a:r>
              <a:rPr lang="en-IT" dirty="0"/>
              <a:t>Thoughts on conventional science and open sceince?</a:t>
            </a:r>
          </a:p>
          <a:p>
            <a:r>
              <a:rPr lang="en-IT" dirty="0"/>
              <a:t>Thoughts on science, reserach, and the work of your organization</a:t>
            </a:r>
          </a:p>
        </p:txBody>
      </p:sp>
    </p:spTree>
    <p:extLst>
      <p:ext uri="{BB962C8B-B14F-4D97-AF65-F5344CB8AC3E}">
        <p14:creationId xmlns:p14="http://schemas.microsoft.com/office/powerpoint/2010/main" val="2451179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8C576E5-DA61-815B-6A6C-9106C836249C}"/>
              </a:ext>
            </a:extLst>
          </p:cNvPr>
          <p:cNvSpPr>
            <a:spLocks noGrp="1"/>
          </p:cNvSpPr>
          <p:nvPr>
            <p:ph type="title"/>
          </p:nvPr>
        </p:nvSpPr>
        <p:spPr>
          <a:xfrm>
            <a:off x="1115568" y="548640"/>
            <a:ext cx="10168128" cy="1179576"/>
          </a:xfrm>
        </p:spPr>
        <p:txBody>
          <a:bodyPr>
            <a:normAutofit/>
          </a:bodyPr>
          <a:lstStyle/>
          <a:p>
            <a:r>
              <a:rPr lang="en-IT" sz="4000"/>
              <a:t>S1: test</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38577547-834B-47D9-9314-5178849C02B3}"/>
              </a:ext>
            </a:extLst>
          </p:cNvPr>
          <p:cNvGraphicFramePr>
            <a:graphicFrameLocks noGrp="1"/>
          </p:cNvGraphicFramePr>
          <p:nvPr>
            <p:ph idx="1"/>
            <p:extLst>
              <p:ext uri="{D42A27DB-BD31-4B8C-83A1-F6EECF244321}">
                <p14:modId xmlns:p14="http://schemas.microsoft.com/office/powerpoint/2010/main" val="1666024681"/>
              </p:ext>
            </p:extLst>
          </p:nvPr>
        </p:nvGraphicFramePr>
        <p:xfrm>
          <a:off x="1115568" y="2395346"/>
          <a:ext cx="10168130" cy="3742678"/>
        </p:xfrm>
        <a:graphic>
          <a:graphicData uri="http://schemas.openxmlformats.org/drawingml/2006/table">
            <a:tbl>
              <a:tblPr firstRow="1" firstCol="1" bandRow="1"/>
              <a:tblGrid>
                <a:gridCol w="1697819">
                  <a:extLst>
                    <a:ext uri="{9D8B030D-6E8A-4147-A177-3AD203B41FA5}">
                      <a16:colId xmlns:a16="http://schemas.microsoft.com/office/drawing/2014/main" val="3853421176"/>
                    </a:ext>
                  </a:extLst>
                </a:gridCol>
                <a:gridCol w="1707302">
                  <a:extLst>
                    <a:ext uri="{9D8B030D-6E8A-4147-A177-3AD203B41FA5}">
                      <a16:colId xmlns:a16="http://schemas.microsoft.com/office/drawing/2014/main" val="1874296986"/>
                    </a:ext>
                  </a:extLst>
                </a:gridCol>
                <a:gridCol w="1794108">
                  <a:extLst>
                    <a:ext uri="{9D8B030D-6E8A-4147-A177-3AD203B41FA5}">
                      <a16:colId xmlns:a16="http://schemas.microsoft.com/office/drawing/2014/main" val="372146620"/>
                    </a:ext>
                  </a:extLst>
                </a:gridCol>
                <a:gridCol w="1644021">
                  <a:extLst>
                    <a:ext uri="{9D8B030D-6E8A-4147-A177-3AD203B41FA5}">
                      <a16:colId xmlns:a16="http://schemas.microsoft.com/office/drawing/2014/main" val="3042948071"/>
                    </a:ext>
                  </a:extLst>
                </a:gridCol>
                <a:gridCol w="1645480">
                  <a:extLst>
                    <a:ext uri="{9D8B030D-6E8A-4147-A177-3AD203B41FA5}">
                      <a16:colId xmlns:a16="http://schemas.microsoft.com/office/drawing/2014/main" val="4204960895"/>
                    </a:ext>
                  </a:extLst>
                </a:gridCol>
                <a:gridCol w="1679400">
                  <a:extLst>
                    <a:ext uri="{9D8B030D-6E8A-4147-A177-3AD203B41FA5}">
                      <a16:colId xmlns:a16="http://schemas.microsoft.com/office/drawing/2014/main" val="924781631"/>
                    </a:ext>
                  </a:extLst>
                </a:gridCol>
              </a:tblGrid>
              <a:tr h="3742678">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What societal problems can open science help to address? </a:t>
                      </a:r>
                      <a:endParaRPr lang="en-US" sz="2600" b="0" i="0" u="none" strike="noStrike">
                        <a:effectLst/>
                        <a:latin typeface="Arial" panose="020B0604020202020204" pitchFamily="34" charset="0"/>
                      </a:endParaRPr>
                    </a:p>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8477" marR="98477" marT="136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Scientific reproducibility crisis. </a:t>
                      </a:r>
                      <a:endParaRPr lang="en-US" sz="2600" b="0" i="0" u="none" strike="noStrike">
                        <a:effectLst/>
                        <a:latin typeface="Arial" panose="020B0604020202020204" pitchFamily="34" charset="0"/>
                      </a:endParaRPr>
                    </a:p>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8477" marR="98477" marT="136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The practice of open science helps address the reproducibility crisis, for example, by involving community feedback to validate results in a more robust manner.</a:t>
                      </a:r>
                      <a:endParaRPr lang="en-US" sz="2600" b="0" i="0" u="none" strike="noStrike">
                        <a:effectLst/>
                        <a:latin typeface="Arial" panose="020B0604020202020204" pitchFamily="34" charset="0"/>
                      </a:endParaRPr>
                    </a:p>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8477" marR="98477" marT="136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‘Why do open science?’</a:t>
                      </a:r>
                      <a:endParaRPr lang="en-US" sz="2600" b="0" i="0" u="none" strike="noStrike">
                        <a:effectLst/>
                        <a:latin typeface="Arial" panose="020B0604020202020204" pitchFamily="34" charset="0"/>
                      </a:endParaRPr>
                    </a:p>
                  </a:txBody>
                  <a:tcPr marL="98477" marR="98477" marT="136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Identify the ‘societal problems’, ie. the problems identified by???, that os can help address</a:t>
                      </a:r>
                      <a:endParaRPr lang="en-US" sz="2600" b="0" i="0" u="none" strike="noStrike">
                        <a:effectLst/>
                        <a:latin typeface="Arial" panose="020B0604020202020204" pitchFamily="34" charset="0"/>
                      </a:endParaRPr>
                    </a:p>
                  </a:txBody>
                  <a:tcPr marL="98477" marR="98477" marT="136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dirty="0">
                          <a:effectLst/>
                          <a:latin typeface="Aptos" panose="020B0004020202020204" pitchFamily="34" charset="0"/>
                          <a:ea typeface="Times New Roman" panose="02020603050405020304" pitchFamily="18" charset="0"/>
                          <a:cs typeface="Times New Roman" panose="02020603050405020304" pitchFamily="18" charset="0"/>
                        </a:rPr>
                        <a:t>-low confidence in science</a:t>
                      </a:r>
                      <a:endParaRPr lang="en-US" sz="2600" b="0" i="0" u="none" strike="noStrike" dirty="0">
                        <a:effectLst/>
                        <a:latin typeface="Arial" panose="020B0604020202020204" pitchFamily="34" charset="0"/>
                      </a:endParaRPr>
                    </a:p>
                    <a:p>
                      <a:pPr algn="l" fontAlgn="t">
                        <a:spcBef>
                          <a:spcPts val="0"/>
                        </a:spcBef>
                        <a:spcAft>
                          <a:spcPts val="0"/>
                        </a:spcAft>
                      </a:pPr>
                      <a:r>
                        <a:rPr lang="en-US" sz="1700" b="0" i="0" u="none" strike="noStrike" kern="100" dirty="0">
                          <a:effectLst/>
                          <a:latin typeface="Aptos" panose="020B0004020202020204" pitchFamily="34" charset="0"/>
                          <a:ea typeface="Times New Roman" panose="02020603050405020304" pitchFamily="18" charset="0"/>
                          <a:cs typeface="Times New Roman" panose="02020603050405020304" pitchFamily="18" charset="0"/>
                        </a:rPr>
                        <a:t>-low trust in quality</a:t>
                      </a:r>
                      <a:endParaRPr lang="en-US" sz="2600" b="0" i="0" u="none" strike="noStrike" dirty="0">
                        <a:effectLst/>
                        <a:latin typeface="Arial" panose="020B0604020202020204" pitchFamily="34" charset="0"/>
                      </a:endParaRPr>
                    </a:p>
                    <a:p>
                      <a:pPr algn="l" fontAlgn="t">
                        <a:spcBef>
                          <a:spcPts val="0"/>
                        </a:spcBef>
                        <a:spcAft>
                          <a:spcPts val="0"/>
                        </a:spcAft>
                      </a:pPr>
                      <a:r>
                        <a:rPr lang="en-US" sz="1700" b="0" i="0" u="none" strike="noStrike" kern="100" dirty="0">
                          <a:effectLst/>
                          <a:latin typeface="Aptos" panose="020B0004020202020204" pitchFamily="34" charset="0"/>
                          <a:ea typeface="Times New Roman" panose="02020603050405020304" pitchFamily="18" charset="0"/>
                          <a:cs typeface="Times New Roman" panose="02020603050405020304" pitchFamily="18" charset="0"/>
                        </a:rPr>
                        <a:t>-contradictory results slow decisions</a:t>
                      </a:r>
                      <a:endParaRPr lang="en-US" sz="2600" b="0" i="0" u="none" strike="noStrike" dirty="0">
                        <a:effectLst/>
                        <a:latin typeface="Arial" panose="020B0604020202020204" pitchFamily="34" charset="0"/>
                      </a:endParaRPr>
                    </a:p>
                  </a:txBody>
                  <a:tcPr marL="98477" marR="98477" marT="1367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3725042"/>
                  </a:ext>
                </a:extLst>
              </a:tr>
            </a:tbl>
          </a:graphicData>
        </a:graphic>
      </p:graphicFrame>
    </p:spTree>
    <p:extLst>
      <p:ext uri="{BB962C8B-B14F-4D97-AF65-F5344CB8AC3E}">
        <p14:creationId xmlns:p14="http://schemas.microsoft.com/office/powerpoint/2010/main" val="2039292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B90B0-DAB1-0940-09E5-7CE09DE5623B}"/>
              </a:ext>
            </a:extLst>
          </p:cNvPr>
          <p:cNvSpPr>
            <a:spLocks noGrp="1"/>
          </p:cNvSpPr>
          <p:nvPr>
            <p:ph type="title"/>
          </p:nvPr>
        </p:nvSpPr>
        <p:spPr/>
        <p:txBody>
          <a:bodyPr/>
          <a:lstStyle/>
          <a:p>
            <a:r>
              <a:rPr lang="en-GB" dirty="0" err="1"/>
              <a:t>S2</a:t>
            </a:r>
            <a:r>
              <a:rPr lang="en-GB" dirty="0"/>
              <a:t>: Misinformation is free</a:t>
            </a:r>
            <a:endParaRPr lang="en-IT" dirty="0"/>
          </a:p>
        </p:txBody>
      </p:sp>
      <p:sp>
        <p:nvSpPr>
          <p:cNvPr id="3" name="Content Placeholder 2">
            <a:extLst>
              <a:ext uri="{FF2B5EF4-FFF2-40B4-BE49-F238E27FC236}">
                <a16:creationId xmlns:a16="http://schemas.microsoft.com/office/drawing/2014/main" id="{95501E86-7B2C-8808-8D84-5CDE755FF0CF}"/>
              </a:ext>
            </a:extLst>
          </p:cNvPr>
          <p:cNvSpPr>
            <a:spLocks noGrp="1"/>
          </p:cNvSpPr>
          <p:nvPr>
            <p:ph idx="1"/>
          </p:nvPr>
        </p:nvSpPr>
        <p:spPr/>
        <p:txBody>
          <a:bodyPr/>
          <a:lstStyle/>
          <a:p>
            <a:r>
              <a:rPr lang="en-GB" dirty="0"/>
              <a:t>Negative impacts of closed science</a:t>
            </a:r>
          </a:p>
          <a:p>
            <a:r>
              <a:rPr lang="en-GB" dirty="0"/>
              <a:t>Examples or current initiatives at openness</a:t>
            </a:r>
          </a:p>
          <a:p>
            <a:r>
              <a:rPr lang="en-GB" dirty="0"/>
              <a:t>Where could openness accentuate the positive and minimize the negatives of science for </a:t>
            </a:r>
            <a:r>
              <a:rPr lang="en-GB" dirty="0" err="1"/>
              <a:t>EJ</a:t>
            </a:r>
            <a:r>
              <a:rPr lang="en-GB" dirty="0"/>
              <a:t> communities</a:t>
            </a:r>
          </a:p>
          <a:p>
            <a:endParaRPr lang="en-GB" dirty="0"/>
          </a:p>
          <a:p>
            <a:endParaRPr lang="en-GB" dirty="0"/>
          </a:p>
          <a:p>
            <a:endParaRPr lang="en-GB" dirty="0"/>
          </a:p>
          <a:p>
            <a:endParaRPr lang="en-IT" dirty="0"/>
          </a:p>
        </p:txBody>
      </p:sp>
    </p:spTree>
    <p:extLst>
      <p:ext uri="{BB962C8B-B14F-4D97-AF65-F5344CB8AC3E}">
        <p14:creationId xmlns:p14="http://schemas.microsoft.com/office/powerpoint/2010/main" val="3584219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25E251-7868-B6A5-4B04-892B17471E0C}"/>
              </a:ext>
            </a:extLst>
          </p:cNvPr>
          <p:cNvSpPr>
            <a:spLocks noGrp="1"/>
          </p:cNvSpPr>
          <p:nvPr>
            <p:ph type="title"/>
          </p:nvPr>
        </p:nvSpPr>
        <p:spPr/>
        <p:txBody>
          <a:bodyPr/>
          <a:lstStyle/>
          <a:p>
            <a:r>
              <a:rPr lang="en-GB" dirty="0"/>
              <a:t>Characteristics, C</a:t>
            </a:r>
            <a:r>
              <a:rPr lang="en-IT" dirty="0"/>
              <a:t>onsequences, Equity of benefits </a:t>
            </a:r>
          </a:p>
        </p:txBody>
      </p:sp>
      <p:sp>
        <p:nvSpPr>
          <p:cNvPr id="5" name="Text Placeholder 4">
            <a:extLst>
              <a:ext uri="{FF2B5EF4-FFF2-40B4-BE49-F238E27FC236}">
                <a16:creationId xmlns:a16="http://schemas.microsoft.com/office/drawing/2014/main" id="{F52B7D6C-EB8E-9132-5FA2-68370420D42A}"/>
              </a:ext>
            </a:extLst>
          </p:cNvPr>
          <p:cNvSpPr>
            <a:spLocks noGrp="1"/>
          </p:cNvSpPr>
          <p:nvPr>
            <p:ph type="body" idx="1"/>
          </p:nvPr>
        </p:nvSpPr>
        <p:spPr/>
        <p:txBody>
          <a:bodyPr/>
          <a:lstStyle/>
          <a:p>
            <a:r>
              <a:rPr lang="en-IT" dirty="0"/>
              <a:t>Closed Science</a:t>
            </a:r>
          </a:p>
        </p:txBody>
      </p:sp>
      <p:sp>
        <p:nvSpPr>
          <p:cNvPr id="6" name="Content Placeholder 5">
            <a:extLst>
              <a:ext uri="{FF2B5EF4-FFF2-40B4-BE49-F238E27FC236}">
                <a16:creationId xmlns:a16="http://schemas.microsoft.com/office/drawing/2014/main" id="{C406F9A3-127F-AF11-936C-307B9451C385}"/>
              </a:ext>
            </a:extLst>
          </p:cNvPr>
          <p:cNvSpPr>
            <a:spLocks noGrp="1"/>
          </p:cNvSpPr>
          <p:nvPr>
            <p:ph sz="half" idx="2"/>
          </p:nvPr>
        </p:nvSpPr>
        <p:spPr/>
        <p:txBody>
          <a:bodyPr/>
          <a:lstStyle/>
          <a:p>
            <a:r>
              <a:rPr lang="en-IT" dirty="0"/>
              <a:t>Questionable research practice</a:t>
            </a:r>
          </a:p>
          <a:p>
            <a:r>
              <a:rPr lang="en-IT" dirty="0"/>
              <a:t>Novel positive results</a:t>
            </a:r>
          </a:p>
          <a:p>
            <a:r>
              <a:rPr lang="en-IT" dirty="0"/>
              <a:t>Excludes groups</a:t>
            </a:r>
          </a:p>
        </p:txBody>
      </p:sp>
      <p:sp>
        <p:nvSpPr>
          <p:cNvPr id="7" name="Text Placeholder 6">
            <a:extLst>
              <a:ext uri="{FF2B5EF4-FFF2-40B4-BE49-F238E27FC236}">
                <a16:creationId xmlns:a16="http://schemas.microsoft.com/office/drawing/2014/main" id="{90D9900D-EA30-4335-9568-DAAC32BFD9A2}"/>
              </a:ext>
            </a:extLst>
          </p:cNvPr>
          <p:cNvSpPr>
            <a:spLocks noGrp="1"/>
          </p:cNvSpPr>
          <p:nvPr>
            <p:ph type="body" sz="quarter" idx="3"/>
          </p:nvPr>
        </p:nvSpPr>
        <p:spPr/>
        <p:txBody>
          <a:bodyPr/>
          <a:lstStyle/>
          <a:p>
            <a:r>
              <a:rPr lang="en-IT" dirty="0"/>
              <a:t>Open Science</a:t>
            </a:r>
          </a:p>
        </p:txBody>
      </p:sp>
      <p:sp>
        <p:nvSpPr>
          <p:cNvPr id="8" name="Content Placeholder 7">
            <a:extLst>
              <a:ext uri="{FF2B5EF4-FFF2-40B4-BE49-F238E27FC236}">
                <a16:creationId xmlns:a16="http://schemas.microsoft.com/office/drawing/2014/main" id="{27272BAB-2536-8087-C3A1-E40C90A6DCB7}"/>
              </a:ext>
            </a:extLst>
          </p:cNvPr>
          <p:cNvSpPr>
            <a:spLocks noGrp="1"/>
          </p:cNvSpPr>
          <p:nvPr>
            <p:ph sz="quarter" idx="4"/>
          </p:nvPr>
        </p:nvSpPr>
        <p:spPr/>
        <p:txBody>
          <a:bodyPr/>
          <a:lstStyle/>
          <a:p>
            <a:r>
              <a:rPr lang="en-IT" dirty="0"/>
              <a:t>Ability to question research practice</a:t>
            </a:r>
          </a:p>
          <a:p>
            <a:r>
              <a:rPr lang="en-IT" dirty="0"/>
              <a:t>Discount science that shows problems, challenges status quo, negative results</a:t>
            </a:r>
          </a:p>
          <a:p>
            <a:r>
              <a:rPr lang="en-IT" dirty="0"/>
              <a:t>Inclusive</a:t>
            </a:r>
          </a:p>
        </p:txBody>
      </p:sp>
    </p:spTree>
    <p:extLst>
      <p:ext uri="{BB962C8B-B14F-4D97-AF65-F5344CB8AC3E}">
        <p14:creationId xmlns:p14="http://schemas.microsoft.com/office/powerpoint/2010/main" val="1057655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407FA99-060C-23C9-0601-3296B068FE71}"/>
              </a:ext>
            </a:extLst>
          </p:cNvPr>
          <p:cNvSpPr>
            <a:spLocks noGrp="1"/>
          </p:cNvSpPr>
          <p:nvPr>
            <p:ph type="title"/>
          </p:nvPr>
        </p:nvSpPr>
        <p:spPr/>
        <p:txBody>
          <a:bodyPr/>
          <a:lstStyle/>
          <a:p>
            <a:r>
              <a:rPr lang="en-IT" dirty="0"/>
              <a:t>Benefits for EJ of </a:t>
            </a:r>
          </a:p>
        </p:txBody>
      </p:sp>
      <p:sp>
        <p:nvSpPr>
          <p:cNvPr id="4" name="Content Placeholder 3">
            <a:extLst>
              <a:ext uri="{FF2B5EF4-FFF2-40B4-BE49-F238E27FC236}">
                <a16:creationId xmlns:a16="http://schemas.microsoft.com/office/drawing/2014/main" id="{C15EDCE1-06FF-8B17-47D8-6F0F716AEC99}"/>
              </a:ext>
            </a:extLst>
          </p:cNvPr>
          <p:cNvSpPr>
            <a:spLocks noGrp="1"/>
          </p:cNvSpPr>
          <p:nvPr>
            <p:ph idx="1"/>
          </p:nvPr>
        </p:nvSpPr>
        <p:spPr/>
        <p:txBody>
          <a:bodyPr/>
          <a:lstStyle/>
          <a:p>
            <a:r>
              <a:rPr lang="en-IT" dirty="0"/>
              <a:t>Research plan publishing (pressure to distort results)</a:t>
            </a:r>
          </a:p>
          <a:p>
            <a:r>
              <a:rPr lang="en-GB" dirty="0"/>
              <a:t>O</a:t>
            </a:r>
            <a:r>
              <a:rPr lang="en-IT" dirty="0"/>
              <a:t>pen access to data</a:t>
            </a:r>
          </a:p>
          <a:p>
            <a:r>
              <a:rPr lang="en-IT" dirty="0"/>
              <a:t>Open source software</a:t>
            </a:r>
          </a:p>
          <a:p>
            <a:r>
              <a:rPr lang="en-IT" dirty="0"/>
              <a:t>Open publishing</a:t>
            </a:r>
          </a:p>
          <a:p>
            <a:endParaRPr lang="en-IT" dirty="0"/>
          </a:p>
        </p:txBody>
      </p:sp>
    </p:spTree>
    <p:extLst>
      <p:ext uri="{BB962C8B-B14F-4D97-AF65-F5344CB8AC3E}">
        <p14:creationId xmlns:p14="http://schemas.microsoft.com/office/powerpoint/2010/main" val="3523575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4502C6F-B1AD-4BEE-1609-CFEE44271EA4}"/>
              </a:ext>
            </a:extLst>
          </p:cNvPr>
          <p:cNvGraphicFramePr>
            <a:graphicFrameLocks noGrp="1"/>
          </p:cNvGraphicFramePr>
          <p:nvPr>
            <p:extLst>
              <p:ext uri="{D42A27DB-BD31-4B8C-83A1-F6EECF244321}">
                <p14:modId xmlns:p14="http://schemas.microsoft.com/office/powerpoint/2010/main" val="3122498144"/>
              </p:ext>
            </p:extLst>
          </p:nvPr>
        </p:nvGraphicFramePr>
        <p:xfrm>
          <a:off x="643467" y="1898331"/>
          <a:ext cx="10905069" cy="3061337"/>
        </p:xfrm>
        <a:graphic>
          <a:graphicData uri="http://schemas.openxmlformats.org/drawingml/2006/table">
            <a:tbl>
              <a:tblPr firstRow="1" firstCol="1" bandRow="1"/>
              <a:tblGrid>
                <a:gridCol w="568705">
                  <a:extLst>
                    <a:ext uri="{9D8B030D-6E8A-4147-A177-3AD203B41FA5}">
                      <a16:colId xmlns:a16="http://schemas.microsoft.com/office/drawing/2014/main" val="4253070818"/>
                    </a:ext>
                  </a:extLst>
                </a:gridCol>
                <a:gridCol w="2693966">
                  <a:extLst>
                    <a:ext uri="{9D8B030D-6E8A-4147-A177-3AD203B41FA5}">
                      <a16:colId xmlns:a16="http://schemas.microsoft.com/office/drawing/2014/main" val="3134923883"/>
                    </a:ext>
                  </a:extLst>
                </a:gridCol>
                <a:gridCol w="2668076">
                  <a:extLst>
                    <a:ext uri="{9D8B030D-6E8A-4147-A177-3AD203B41FA5}">
                      <a16:colId xmlns:a16="http://schemas.microsoft.com/office/drawing/2014/main" val="372937370"/>
                    </a:ext>
                  </a:extLst>
                </a:gridCol>
                <a:gridCol w="1779276">
                  <a:extLst>
                    <a:ext uri="{9D8B030D-6E8A-4147-A177-3AD203B41FA5}">
                      <a16:colId xmlns:a16="http://schemas.microsoft.com/office/drawing/2014/main" val="4118278218"/>
                    </a:ext>
                  </a:extLst>
                </a:gridCol>
                <a:gridCol w="568705">
                  <a:extLst>
                    <a:ext uri="{9D8B030D-6E8A-4147-A177-3AD203B41FA5}">
                      <a16:colId xmlns:a16="http://schemas.microsoft.com/office/drawing/2014/main" val="3570022811"/>
                    </a:ext>
                  </a:extLst>
                </a:gridCol>
                <a:gridCol w="2626341">
                  <a:extLst>
                    <a:ext uri="{9D8B030D-6E8A-4147-A177-3AD203B41FA5}">
                      <a16:colId xmlns:a16="http://schemas.microsoft.com/office/drawing/2014/main" val="1877488877"/>
                    </a:ext>
                  </a:extLst>
                </a:gridCol>
              </a:tblGrid>
              <a:tr h="3061337">
                <a:tc>
                  <a:txBody>
                    <a:bodyPr/>
                    <a:lstStyle/>
                    <a:p>
                      <a:pPr algn="l" fontAlgn="t">
                        <a:spcBef>
                          <a:spcPts val="0"/>
                        </a:spcBef>
                        <a:spcAft>
                          <a:spcPts val="0"/>
                        </a:spcAft>
                      </a:pPr>
                      <a:r>
                        <a:rPr lang="en-US" sz="24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3700" b="0" i="0" u="none" strike="noStrike">
                        <a:effectLst/>
                        <a:latin typeface="Arial" panose="020B0604020202020204" pitchFamily="34" charset="0"/>
                      </a:endParaRPr>
                    </a:p>
                  </a:txBody>
                  <a:tcPr marL="139117" marR="139117" marT="193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24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Spread of misinformation. </a:t>
                      </a:r>
                      <a:endParaRPr lang="en-US" sz="3700" b="0" i="0" u="none" strike="noStrike">
                        <a:effectLst/>
                        <a:latin typeface="Arial" panose="020B0604020202020204" pitchFamily="34" charset="0"/>
                      </a:endParaRPr>
                    </a:p>
                    <a:p>
                      <a:pPr algn="l" fontAlgn="t">
                        <a:spcBef>
                          <a:spcPts val="0"/>
                        </a:spcBef>
                        <a:spcAft>
                          <a:spcPts val="0"/>
                        </a:spcAft>
                      </a:pPr>
                      <a:r>
                        <a:rPr lang="en-US" sz="24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3700" b="0" i="0" u="none" strike="noStrike">
                        <a:effectLst/>
                        <a:latin typeface="Arial" panose="020B0604020202020204" pitchFamily="34" charset="0"/>
                      </a:endParaRPr>
                    </a:p>
                  </a:txBody>
                  <a:tcPr marL="139117" marR="139117" marT="193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24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The practice of open science combats misinformation by making results available to the public.</a:t>
                      </a:r>
                      <a:endParaRPr lang="en-US" sz="3700" b="0" i="0" u="none" strike="noStrike">
                        <a:effectLst/>
                        <a:latin typeface="Arial" panose="020B0604020202020204" pitchFamily="34" charset="0"/>
                      </a:endParaRPr>
                    </a:p>
                    <a:p>
                      <a:pPr algn="l" fontAlgn="t">
                        <a:spcBef>
                          <a:spcPts val="0"/>
                        </a:spcBef>
                        <a:spcAft>
                          <a:spcPts val="0"/>
                        </a:spcAft>
                      </a:pPr>
                      <a:r>
                        <a:rPr lang="en-US" sz="24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3700" b="0" i="0" u="none" strike="noStrike">
                        <a:effectLst/>
                        <a:latin typeface="Arial" panose="020B0604020202020204" pitchFamily="34" charset="0"/>
                      </a:endParaRPr>
                    </a:p>
                  </a:txBody>
                  <a:tcPr marL="139117" marR="139117" marT="193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24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‘Why do open science?’</a:t>
                      </a:r>
                      <a:endParaRPr lang="en-US" sz="3700" b="0" i="0" u="none" strike="noStrike">
                        <a:effectLst/>
                        <a:latin typeface="Arial" panose="020B0604020202020204" pitchFamily="34" charset="0"/>
                      </a:endParaRPr>
                    </a:p>
                  </a:txBody>
                  <a:tcPr marL="139117" marR="139117" marT="193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24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3700" b="0" i="0" u="none" strike="noStrike">
                        <a:effectLst/>
                        <a:latin typeface="Arial" panose="020B0604020202020204" pitchFamily="34" charset="0"/>
                      </a:endParaRPr>
                    </a:p>
                  </a:txBody>
                  <a:tcPr marL="139117" marR="139117" marT="193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2400" b="0" i="0" u="none" strike="noStrike" kern="100" dirty="0">
                          <a:effectLst/>
                          <a:latin typeface="Aptos" panose="020B0004020202020204" pitchFamily="34" charset="0"/>
                          <a:ea typeface="Times New Roman" panose="02020603050405020304" pitchFamily="18" charset="0"/>
                          <a:cs typeface="Times New Roman" panose="02020603050405020304" pitchFamily="18" charset="0"/>
                        </a:rPr>
                        <a:t>-misinformation is free!</a:t>
                      </a:r>
                      <a:endParaRPr lang="en-US" sz="3700" b="0" i="0" u="none" strike="noStrike" dirty="0">
                        <a:effectLst/>
                        <a:latin typeface="Arial" panose="020B0604020202020204" pitchFamily="34" charset="0"/>
                      </a:endParaRPr>
                    </a:p>
                    <a:p>
                      <a:pPr algn="l" fontAlgn="t">
                        <a:spcBef>
                          <a:spcPts val="0"/>
                        </a:spcBef>
                        <a:spcAft>
                          <a:spcPts val="0"/>
                        </a:spcAft>
                      </a:pPr>
                      <a:r>
                        <a:rPr lang="en-US" sz="2400" b="0" i="0" u="none" strike="noStrike" kern="100" dirty="0">
                          <a:effectLst/>
                          <a:latin typeface="Aptos" panose="020B0004020202020204" pitchFamily="34" charset="0"/>
                          <a:ea typeface="Times New Roman" panose="02020603050405020304" pitchFamily="18" charset="0"/>
                          <a:cs typeface="Times New Roman" panose="02020603050405020304" pitchFamily="18" charset="0"/>
                        </a:rPr>
                        <a:t>-pay walls for validated science</a:t>
                      </a:r>
                      <a:endParaRPr lang="en-US" sz="3700" b="0" i="0" u="none" strike="noStrike" dirty="0">
                        <a:effectLst/>
                        <a:latin typeface="Arial" panose="020B0604020202020204" pitchFamily="34" charset="0"/>
                      </a:endParaRPr>
                    </a:p>
                  </a:txBody>
                  <a:tcPr marL="139117" marR="139117" marT="193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6270820"/>
                  </a:ext>
                </a:extLst>
              </a:tr>
            </a:tbl>
          </a:graphicData>
        </a:graphic>
      </p:graphicFrame>
      <p:sp>
        <p:nvSpPr>
          <p:cNvPr id="5" name="Title 4">
            <a:extLst>
              <a:ext uri="{FF2B5EF4-FFF2-40B4-BE49-F238E27FC236}">
                <a16:creationId xmlns:a16="http://schemas.microsoft.com/office/drawing/2014/main" id="{D38F953E-3E65-6092-2DC5-A2EDEB79FF74}"/>
              </a:ext>
            </a:extLst>
          </p:cNvPr>
          <p:cNvSpPr>
            <a:spLocks noGrp="1"/>
          </p:cNvSpPr>
          <p:nvPr>
            <p:ph type="title"/>
          </p:nvPr>
        </p:nvSpPr>
        <p:spPr/>
        <p:txBody>
          <a:bodyPr/>
          <a:lstStyle/>
          <a:p>
            <a:r>
              <a:rPr lang="en-IT" dirty="0"/>
              <a:t>S2:test</a:t>
            </a:r>
          </a:p>
        </p:txBody>
      </p:sp>
    </p:spTree>
    <p:extLst>
      <p:ext uri="{BB962C8B-B14F-4D97-AF65-F5344CB8AC3E}">
        <p14:creationId xmlns:p14="http://schemas.microsoft.com/office/powerpoint/2010/main" val="1801045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74C8B-674E-6904-1C08-51D724903B44}"/>
              </a:ext>
            </a:extLst>
          </p:cNvPr>
          <p:cNvSpPr>
            <a:spLocks noGrp="1"/>
          </p:cNvSpPr>
          <p:nvPr>
            <p:ph type="title"/>
          </p:nvPr>
        </p:nvSpPr>
        <p:spPr/>
        <p:txBody>
          <a:bodyPr/>
          <a:lstStyle/>
          <a:p>
            <a:r>
              <a:rPr lang="en-GB" dirty="0" err="1"/>
              <a:t>S3</a:t>
            </a:r>
            <a:r>
              <a:rPr lang="en-GB" dirty="0"/>
              <a:t>: More ‘we’ science and less ‘me’ science</a:t>
            </a:r>
            <a:endParaRPr lang="en-IT" dirty="0"/>
          </a:p>
        </p:txBody>
      </p:sp>
      <p:sp>
        <p:nvSpPr>
          <p:cNvPr id="3" name="Content Placeholder 2">
            <a:extLst>
              <a:ext uri="{FF2B5EF4-FFF2-40B4-BE49-F238E27FC236}">
                <a16:creationId xmlns:a16="http://schemas.microsoft.com/office/drawing/2014/main" id="{8E277C90-3585-1283-2B41-67C0C1B32578}"/>
              </a:ext>
            </a:extLst>
          </p:cNvPr>
          <p:cNvSpPr>
            <a:spLocks noGrp="1"/>
          </p:cNvSpPr>
          <p:nvPr>
            <p:ph idx="1"/>
          </p:nvPr>
        </p:nvSpPr>
        <p:spPr/>
        <p:txBody>
          <a:bodyPr/>
          <a:lstStyle/>
          <a:p>
            <a:r>
              <a:rPr lang="en-GB" dirty="0"/>
              <a:t>Benefits to individual researchers (for the test)</a:t>
            </a:r>
          </a:p>
          <a:p>
            <a:r>
              <a:rPr lang="en-GB" dirty="0"/>
              <a:t>Benefits to science – transparency (for test )</a:t>
            </a:r>
          </a:p>
          <a:p>
            <a:r>
              <a:rPr lang="en-GB" dirty="0"/>
              <a:t>Specific benefits to community-led academic supported </a:t>
            </a:r>
            <a:r>
              <a:rPr lang="en-GB" dirty="0" err="1"/>
              <a:t>EJ</a:t>
            </a:r>
            <a:r>
              <a:rPr lang="en-GB" dirty="0"/>
              <a:t> research</a:t>
            </a:r>
          </a:p>
          <a:p>
            <a:r>
              <a:rPr lang="en-GB" dirty="0" err="1"/>
              <a:t>Communiversity</a:t>
            </a:r>
            <a:r>
              <a:rPr lang="en-GB" dirty="0"/>
              <a:t> and Open Science</a:t>
            </a:r>
          </a:p>
          <a:p>
            <a:endParaRPr lang="en-GB" dirty="0"/>
          </a:p>
          <a:p>
            <a:endParaRPr lang="en-IT" dirty="0"/>
          </a:p>
        </p:txBody>
      </p:sp>
    </p:spTree>
    <p:extLst>
      <p:ext uri="{BB962C8B-B14F-4D97-AF65-F5344CB8AC3E}">
        <p14:creationId xmlns:p14="http://schemas.microsoft.com/office/powerpoint/2010/main" val="2092037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A714CF-D5EB-EDE7-228C-26DFEED0F09B}"/>
              </a:ext>
            </a:extLst>
          </p:cNvPr>
          <p:cNvSpPr>
            <a:spLocks noGrp="1"/>
          </p:cNvSpPr>
          <p:nvPr>
            <p:ph type="title"/>
          </p:nvPr>
        </p:nvSpPr>
        <p:spPr/>
        <p:txBody>
          <a:bodyPr/>
          <a:lstStyle/>
          <a:p>
            <a:endParaRPr lang="en-IT"/>
          </a:p>
        </p:txBody>
      </p:sp>
      <p:sp>
        <p:nvSpPr>
          <p:cNvPr id="5" name="Rectangle 2">
            <a:extLst>
              <a:ext uri="{FF2B5EF4-FFF2-40B4-BE49-F238E27FC236}">
                <a16:creationId xmlns:a16="http://schemas.microsoft.com/office/drawing/2014/main" id="{1AADCA0C-944E-D83E-0E2C-7546940E6BB6}"/>
              </a:ext>
            </a:extLst>
          </p:cNvPr>
          <p:cNvSpPr>
            <a:spLocks noChangeArrowheads="1"/>
          </p:cNvSpPr>
          <p:nvPr/>
        </p:nvSpPr>
        <p:spPr bwMode="auto">
          <a:xfrm>
            <a:off x="838200" y="16849"/>
            <a:ext cx="2288328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T"/>
          </a:p>
        </p:txBody>
      </p:sp>
      <p:pic>
        <p:nvPicPr>
          <p:cNvPr id="9217" name="Picture 1" descr="A diagram of a cloud with icons&#10;&#10;Description automatically generated">
            <a:extLst>
              <a:ext uri="{FF2B5EF4-FFF2-40B4-BE49-F238E27FC236}">
                <a16:creationId xmlns:a16="http://schemas.microsoft.com/office/drawing/2014/main" id="{2CEE8D6B-20BF-AC36-B5D8-0DD155A2FAE9}"/>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838200" y="16850"/>
            <a:ext cx="10750378" cy="6841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4817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2F355-5123-F0AB-9109-4A5034D646D8}"/>
              </a:ext>
            </a:extLst>
          </p:cNvPr>
          <p:cNvSpPr>
            <a:spLocks noGrp="1"/>
          </p:cNvSpPr>
          <p:nvPr>
            <p:ph type="title"/>
          </p:nvPr>
        </p:nvSpPr>
        <p:spPr/>
        <p:txBody>
          <a:bodyPr/>
          <a:lstStyle/>
          <a:p>
            <a:endParaRPr lang="en-IT"/>
          </a:p>
        </p:txBody>
      </p:sp>
      <p:sp>
        <p:nvSpPr>
          <p:cNvPr id="3" name="Rectangle 2">
            <a:extLst>
              <a:ext uri="{FF2B5EF4-FFF2-40B4-BE49-F238E27FC236}">
                <a16:creationId xmlns:a16="http://schemas.microsoft.com/office/drawing/2014/main" id="{FA1F4850-B1C4-D365-D597-A29BA4128F2A}"/>
              </a:ext>
            </a:extLst>
          </p:cNvPr>
          <p:cNvSpPr>
            <a:spLocks noChangeArrowheads="1"/>
          </p:cNvSpPr>
          <p:nvPr/>
        </p:nvSpPr>
        <p:spPr bwMode="auto">
          <a:xfrm>
            <a:off x="1890584" y="0"/>
            <a:ext cx="1846444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T"/>
          </a:p>
        </p:txBody>
      </p:sp>
      <p:pic>
        <p:nvPicPr>
          <p:cNvPr id="10241" name="Picture 3" descr="A cartoon of a few people&#10;&#10;Description automatically generated">
            <a:extLst>
              <a:ext uri="{FF2B5EF4-FFF2-40B4-BE49-F238E27FC236}">
                <a16:creationId xmlns:a16="http://schemas.microsoft.com/office/drawing/2014/main" id="{7FC779F3-2647-860A-2E40-6964F720AE78}"/>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890583" y="0"/>
            <a:ext cx="8674443" cy="6924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4341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3A757-27C7-D3D6-0AC0-99DC1704AF1F}"/>
              </a:ext>
            </a:extLst>
          </p:cNvPr>
          <p:cNvSpPr>
            <a:spLocks noGrp="1"/>
          </p:cNvSpPr>
          <p:nvPr>
            <p:ph type="title"/>
          </p:nvPr>
        </p:nvSpPr>
        <p:spPr/>
        <p:txBody>
          <a:bodyPr/>
          <a:lstStyle/>
          <a:p>
            <a:r>
              <a:rPr lang="en-GB" dirty="0"/>
              <a:t>F</a:t>
            </a:r>
            <a:r>
              <a:rPr lang="en-IT" dirty="0"/>
              <a:t>lip chart with</a:t>
            </a:r>
          </a:p>
        </p:txBody>
      </p:sp>
      <p:sp>
        <p:nvSpPr>
          <p:cNvPr id="3" name="Content Placeholder 2">
            <a:extLst>
              <a:ext uri="{FF2B5EF4-FFF2-40B4-BE49-F238E27FC236}">
                <a16:creationId xmlns:a16="http://schemas.microsoft.com/office/drawing/2014/main" id="{367CD6B8-7F63-5DC9-1F17-010F817A49D8}"/>
              </a:ext>
            </a:extLst>
          </p:cNvPr>
          <p:cNvSpPr>
            <a:spLocks noGrp="1"/>
          </p:cNvSpPr>
          <p:nvPr>
            <p:ph idx="1"/>
          </p:nvPr>
        </p:nvSpPr>
        <p:spPr/>
        <p:txBody>
          <a:bodyPr/>
          <a:lstStyle/>
          <a:p>
            <a:r>
              <a:rPr lang="en-GB" dirty="0"/>
              <a:t>Benefits to individual researchers (for the test)</a:t>
            </a:r>
          </a:p>
          <a:p>
            <a:r>
              <a:rPr lang="en-GB" dirty="0"/>
              <a:t>Benefits to science – transparency (for test )</a:t>
            </a:r>
          </a:p>
          <a:p>
            <a:r>
              <a:rPr lang="en-GB" dirty="0"/>
              <a:t>Specific benefits to community-led academic supported </a:t>
            </a:r>
            <a:r>
              <a:rPr lang="en-GB" dirty="0" err="1"/>
              <a:t>EJ</a:t>
            </a:r>
            <a:r>
              <a:rPr lang="en-GB" dirty="0"/>
              <a:t> research</a:t>
            </a:r>
          </a:p>
          <a:p>
            <a:r>
              <a:rPr lang="en-GB" dirty="0" err="1"/>
              <a:t>Communiversity</a:t>
            </a:r>
            <a:r>
              <a:rPr lang="en-GB" dirty="0"/>
              <a:t> and Open Science</a:t>
            </a:r>
          </a:p>
          <a:p>
            <a:endParaRPr lang="en-IT" dirty="0"/>
          </a:p>
        </p:txBody>
      </p:sp>
    </p:spTree>
    <p:extLst>
      <p:ext uri="{BB962C8B-B14F-4D97-AF65-F5344CB8AC3E}">
        <p14:creationId xmlns:p14="http://schemas.microsoft.com/office/powerpoint/2010/main" val="1104409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43E6BE4-F64D-3FFE-43CE-63C80F77F242}"/>
              </a:ext>
            </a:extLst>
          </p:cNvPr>
          <p:cNvGraphicFramePr>
            <a:graphicFrameLocks noGrp="1"/>
          </p:cNvGraphicFramePr>
          <p:nvPr>
            <p:extLst>
              <p:ext uri="{D42A27DB-BD31-4B8C-83A1-F6EECF244321}">
                <p14:modId xmlns:p14="http://schemas.microsoft.com/office/powerpoint/2010/main" val="1225490160"/>
              </p:ext>
            </p:extLst>
          </p:nvPr>
        </p:nvGraphicFramePr>
        <p:xfrm>
          <a:off x="593125" y="1037971"/>
          <a:ext cx="11598876" cy="4907087"/>
        </p:xfrm>
        <a:graphic>
          <a:graphicData uri="http://schemas.openxmlformats.org/drawingml/2006/table">
            <a:tbl>
              <a:tblPr firstRow="1" firstCol="1" bandRow="1"/>
              <a:tblGrid>
                <a:gridCol w="2209268">
                  <a:extLst>
                    <a:ext uri="{9D8B030D-6E8A-4147-A177-3AD203B41FA5}">
                      <a16:colId xmlns:a16="http://schemas.microsoft.com/office/drawing/2014/main" val="1422327459"/>
                    </a:ext>
                  </a:extLst>
                </a:gridCol>
                <a:gridCol w="1450569">
                  <a:extLst>
                    <a:ext uri="{9D8B030D-6E8A-4147-A177-3AD203B41FA5}">
                      <a16:colId xmlns:a16="http://schemas.microsoft.com/office/drawing/2014/main" val="2967630848"/>
                    </a:ext>
                  </a:extLst>
                </a:gridCol>
                <a:gridCol w="3616119">
                  <a:extLst>
                    <a:ext uri="{9D8B030D-6E8A-4147-A177-3AD203B41FA5}">
                      <a16:colId xmlns:a16="http://schemas.microsoft.com/office/drawing/2014/main" val="2181580297"/>
                    </a:ext>
                  </a:extLst>
                </a:gridCol>
                <a:gridCol w="1286325">
                  <a:extLst>
                    <a:ext uri="{9D8B030D-6E8A-4147-A177-3AD203B41FA5}">
                      <a16:colId xmlns:a16="http://schemas.microsoft.com/office/drawing/2014/main" val="614630170"/>
                    </a:ext>
                  </a:extLst>
                </a:gridCol>
                <a:gridCol w="1328317">
                  <a:extLst>
                    <a:ext uri="{9D8B030D-6E8A-4147-A177-3AD203B41FA5}">
                      <a16:colId xmlns:a16="http://schemas.microsoft.com/office/drawing/2014/main" val="3683152626"/>
                    </a:ext>
                  </a:extLst>
                </a:gridCol>
                <a:gridCol w="1708278">
                  <a:extLst>
                    <a:ext uri="{9D8B030D-6E8A-4147-A177-3AD203B41FA5}">
                      <a16:colId xmlns:a16="http://schemas.microsoft.com/office/drawing/2014/main" val="220907476"/>
                    </a:ext>
                  </a:extLst>
                </a:gridCol>
              </a:tblGrid>
              <a:tr h="1895803">
                <a:tc>
                  <a:txBody>
                    <a:bodyPr/>
                    <a:lstStyle/>
                    <a:p>
                      <a:pPr algn="l" fontAlgn="t">
                        <a:spcBef>
                          <a:spcPts val="0"/>
                        </a:spcBef>
                        <a:spcAft>
                          <a:spcPts val="0"/>
                        </a:spcAft>
                      </a:pPr>
                      <a:r>
                        <a:rPr lang="en-US" sz="1800" b="0" i="0" u="none" strike="noStrike" kern="100" dirty="0">
                          <a:effectLst/>
                          <a:latin typeface="Aptos" panose="020B0004020202020204" pitchFamily="34" charset="0"/>
                          <a:ea typeface="Times New Roman" panose="02020603050405020304" pitchFamily="18" charset="0"/>
                          <a:cs typeface="Times New Roman" panose="02020603050405020304" pitchFamily="18" charset="0"/>
                        </a:rPr>
                        <a:t>Open science doesn’t only involve researchers; many other stakeholders are affected by the outcomes of open science. </a:t>
                      </a:r>
                      <a:endParaRPr lang="en-US" sz="1800" b="0" i="0" u="none" strike="noStrike" dirty="0">
                        <a:effectLst/>
                        <a:latin typeface="Arial" panose="020B0604020202020204" pitchFamily="34" charset="0"/>
                      </a:endParaRPr>
                    </a:p>
                    <a:p>
                      <a:pPr algn="l" fontAlgn="t">
                        <a:spcBef>
                          <a:spcPts val="0"/>
                        </a:spcBef>
                        <a:spcAft>
                          <a:spcPts val="0"/>
                        </a:spcAft>
                      </a:pPr>
                      <a:r>
                        <a:rPr lang="en-US" sz="1800" b="0" i="0" u="none" strike="noStrike" kern="100" dirty="0">
                          <a:effectLst/>
                          <a:latin typeface="Aptos" panose="020B0004020202020204" pitchFamily="34" charset="0"/>
                          <a:ea typeface="Times New Roman" panose="02020603050405020304" pitchFamily="18" charset="0"/>
                          <a:cs typeface="Times New Roman" panose="02020603050405020304" pitchFamily="18" charset="0"/>
                        </a:rPr>
                        <a:t> </a:t>
                      </a:r>
                      <a:endParaRPr lang="en-US" sz="1800" b="0" i="0" u="none" strike="noStrike" dirty="0">
                        <a:effectLst/>
                        <a:latin typeface="Arial" panose="020B0604020202020204" pitchFamily="34" charset="0"/>
                      </a:endParaRPr>
                    </a:p>
                  </a:txBody>
                  <a:tcPr marL="48047" marR="48047" marT="66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True: </a:t>
                      </a:r>
                      <a:endParaRPr lang="en-US" sz="1800" b="0" i="0" u="none" strike="noStrike">
                        <a:effectLst/>
                        <a:latin typeface="Arial" panose="020B0604020202020204" pitchFamily="34" charset="0"/>
                      </a:endParaRPr>
                    </a:p>
                  </a:txBody>
                  <a:tcPr marL="48047" marR="48047" marT="66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Open science aims to broaden the traditional scope of who is considered a scientist, so that alongside researchers, there are data managers, infrastructure providers, citizen scientists, science journalists and others who are valued as part of the science ecosystem.</a:t>
                      </a:r>
                      <a:endParaRPr lang="en-US" sz="1800" b="0" i="0" u="none" strike="noStrike">
                        <a:effectLst/>
                        <a:latin typeface="Arial" panose="020B0604020202020204" pitchFamily="34" charset="0"/>
                      </a:endParaRPr>
                    </a:p>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1800" b="0" i="0" u="none" strike="noStrike">
                        <a:effectLst/>
                        <a:latin typeface="Arial" panose="020B0604020202020204" pitchFamily="34" charset="0"/>
                      </a:endParaRPr>
                    </a:p>
                  </a:txBody>
                  <a:tcPr marL="48047" marR="48047" marT="66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‘What is open science’</a:t>
                      </a:r>
                      <a:endParaRPr lang="en-US" sz="1800" b="0" i="0" u="none" strike="noStrike">
                        <a:effectLst/>
                        <a:latin typeface="Arial" panose="020B0604020202020204" pitchFamily="34" charset="0"/>
                      </a:endParaRPr>
                    </a:p>
                  </a:txBody>
                  <a:tcPr marL="48047" marR="48047" marT="66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Identify OS stakeholders. </a:t>
                      </a:r>
                      <a:endParaRPr lang="en-US" sz="1800" b="0" i="0" u="none" strike="noStrike">
                        <a:effectLst/>
                        <a:latin typeface="Arial" panose="020B0604020202020204" pitchFamily="34" charset="0"/>
                      </a:endParaRPr>
                    </a:p>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1800" b="0" i="0" u="none" strike="noStrike">
                        <a:effectLst/>
                        <a:latin typeface="Arial" panose="020B0604020202020204" pitchFamily="34" charset="0"/>
                      </a:endParaRPr>
                    </a:p>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Identify all the different elements of open science</a:t>
                      </a:r>
                      <a:endParaRPr lang="en-US" sz="1800" b="0" i="0" u="none" strike="noStrike">
                        <a:effectLst/>
                        <a:latin typeface="Arial" panose="020B0604020202020204" pitchFamily="34" charset="0"/>
                      </a:endParaRPr>
                    </a:p>
                  </a:txBody>
                  <a:tcPr marL="48047" marR="48047" marT="66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800" b="0" i="0" u="none" strike="noStrike" kern="100" dirty="0">
                          <a:effectLst/>
                          <a:latin typeface="Aptos" panose="020B0004020202020204" pitchFamily="34" charset="0"/>
                          <a:ea typeface="Times New Roman" panose="02020603050405020304" pitchFamily="18" charset="0"/>
                          <a:cs typeface="Times New Roman" panose="02020603050405020304" pitchFamily="18" charset="0"/>
                        </a:rPr>
                        <a:t> </a:t>
                      </a:r>
                      <a:endParaRPr lang="en-US" sz="1800" b="0" i="0" u="none" strike="noStrike" dirty="0">
                        <a:effectLst/>
                        <a:latin typeface="Arial" panose="020B0604020202020204" pitchFamily="34" charset="0"/>
                      </a:endParaRPr>
                    </a:p>
                  </a:txBody>
                  <a:tcPr marL="48047" marR="48047" marT="66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1111562"/>
                  </a:ext>
                </a:extLst>
              </a:tr>
              <a:tr h="2157214">
                <a:tc>
                  <a:txBody>
                    <a:bodyPr/>
                    <a:lstStyle/>
                    <a:p>
                      <a:pPr algn="l" fontAlgn="t">
                        <a:spcBef>
                          <a:spcPts val="0"/>
                        </a:spcBef>
                        <a:spcAft>
                          <a:spcPts val="0"/>
                        </a:spcAft>
                      </a:pPr>
                      <a:endParaRPr lang="en-US" sz="1800" b="0" i="0" u="none" strike="noStrike" dirty="0">
                        <a:effectLst/>
                        <a:latin typeface="Arial" panose="020B0604020202020204" pitchFamily="34" charset="0"/>
                      </a:endParaRPr>
                    </a:p>
                  </a:txBody>
                  <a:tcPr marL="48047" marR="48047" marT="66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endParaRPr lang="en-US" sz="1800" b="0" i="0" u="none" strike="noStrike">
                        <a:effectLst/>
                        <a:latin typeface="Arial" panose="020B0604020202020204" pitchFamily="34" charset="0"/>
                      </a:endParaRPr>
                    </a:p>
                  </a:txBody>
                  <a:tcPr marL="48047" marR="48047" marT="66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endParaRPr lang="en-US" sz="1800" b="0" i="0" u="none" strike="noStrike">
                        <a:effectLst/>
                        <a:latin typeface="Arial" panose="020B0604020202020204" pitchFamily="34" charset="0"/>
                      </a:endParaRPr>
                    </a:p>
                  </a:txBody>
                  <a:tcPr marL="48047" marR="48047" marT="66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endParaRPr lang="en-US" sz="1800" b="0" i="0" u="none" strike="noStrike">
                        <a:effectLst/>
                        <a:latin typeface="Arial" panose="020B0604020202020204" pitchFamily="34" charset="0"/>
                      </a:endParaRPr>
                    </a:p>
                  </a:txBody>
                  <a:tcPr marL="48047" marR="48047" marT="66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endParaRPr lang="en-US" sz="1800" b="0" i="0" u="none" strike="noStrike">
                        <a:effectLst/>
                        <a:latin typeface="Arial" panose="020B0604020202020204" pitchFamily="34" charset="0"/>
                      </a:endParaRPr>
                    </a:p>
                  </a:txBody>
                  <a:tcPr marL="48047" marR="48047" marT="66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endParaRPr lang="en-US" sz="1800" b="0" i="0" u="none" strike="noStrike" dirty="0">
                        <a:effectLst/>
                        <a:latin typeface="Arial" panose="020B0604020202020204" pitchFamily="34" charset="0"/>
                      </a:endParaRPr>
                    </a:p>
                  </a:txBody>
                  <a:tcPr marL="48047" marR="48047" marT="66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6314886"/>
                  </a:ext>
                </a:extLst>
              </a:tr>
            </a:tbl>
          </a:graphicData>
        </a:graphic>
      </p:graphicFrame>
      <p:sp>
        <p:nvSpPr>
          <p:cNvPr id="6" name="Title 5">
            <a:extLst>
              <a:ext uri="{FF2B5EF4-FFF2-40B4-BE49-F238E27FC236}">
                <a16:creationId xmlns:a16="http://schemas.microsoft.com/office/drawing/2014/main" id="{318B19F4-48E6-4133-F198-3B65B6ECFE06}"/>
              </a:ext>
            </a:extLst>
          </p:cNvPr>
          <p:cNvSpPr>
            <a:spLocks noGrp="1"/>
          </p:cNvSpPr>
          <p:nvPr>
            <p:ph type="title"/>
          </p:nvPr>
        </p:nvSpPr>
        <p:spPr>
          <a:xfrm>
            <a:off x="838200" y="117637"/>
            <a:ext cx="10515600" cy="1325563"/>
          </a:xfrm>
        </p:spPr>
        <p:txBody>
          <a:bodyPr/>
          <a:lstStyle/>
          <a:p>
            <a:r>
              <a:rPr lang="en-IT" dirty="0"/>
              <a:t>S3: test</a:t>
            </a:r>
          </a:p>
        </p:txBody>
      </p:sp>
    </p:spTree>
    <p:extLst>
      <p:ext uri="{BB962C8B-B14F-4D97-AF65-F5344CB8AC3E}">
        <p14:creationId xmlns:p14="http://schemas.microsoft.com/office/powerpoint/2010/main" val="1013827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0B7AE48-CD2D-8150-1216-1B2F0C2D44B0}"/>
              </a:ext>
            </a:extLst>
          </p:cNvPr>
          <p:cNvGraphicFramePr>
            <a:graphicFrameLocks noGrp="1"/>
          </p:cNvGraphicFramePr>
          <p:nvPr>
            <p:extLst>
              <p:ext uri="{D42A27DB-BD31-4B8C-83A1-F6EECF244321}">
                <p14:modId xmlns:p14="http://schemas.microsoft.com/office/powerpoint/2010/main" val="3803159125"/>
              </p:ext>
            </p:extLst>
          </p:nvPr>
        </p:nvGraphicFramePr>
        <p:xfrm>
          <a:off x="643467" y="683241"/>
          <a:ext cx="10905068" cy="5491518"/>
        </p:xfrm>
        <a:graphic>
          <a:graphicData uri="http://schemas.openxmlformats.org/drawingml/2006/table">
            <a:tbl>
              <a:tblPr firstRow="1" firstCol="1" bandRow="1"/>
              <a:tblGrid>
                <a:gridCol w="1845707">
                  <a:extLst>
                    <a:ext uri="{9D8B030D-6E8A-4147-A177-3AD203B41FA5}">
                      <a16:colId xmlns:a16="http://schemas.microsoft.com/office/drawing/2014/main" val="603101653"/>
                    </a:ext>
                  </a:extLst>
                </a:gridCol>
                <a:gridCol w="2033733">
                  <a:extLst>
                    <a:ext uri="{9D8B030D-6E8A-4147-A177-3AD203B41FA5}">
                      <a16:colId xmlns:a16="http://schemas.microsoft.com/office/drawing/2014/main" val="2526711169"/>
                    </a:ext>
                  </a:extLst>
                </a:gridCol>
                <a:gridCol w="1914639">
                  <a:extLst>
                    <a:ext uri="{9D8B030D-6E8A-4147-A177-3AD203B41FA5}">
                      <a16:colId xmlns:a16="http://schemas.microsoft.com/office/drawing/2014/main" val="786776693"/>
                    </a:ext>
                  </a:extLst>
                </a:gridCol>
                <a:gridCol w="1492524">
                  <a:extLst>
                    <a:ext uri="{9D8B030D-6E8A-4147-A177-3AD203B41FA5}">
                      <a16:colId xmlns:a16="http://schemas.microsoft.com/office/drawing/2014/main" val="1065532125"/>
                    </a:ext>
                  </a:extLst>
                </a:gridCol>
                <a:gridCol w="1871935">
                  <a:extLst>
                    <a:ext uri="{9D8B030D-6E8A-4147-A177-3AD203B41FA5}">
                      <a16:colId xmlns:a16="http://schemas.microsoft.com/office/drawing/2014/main" val="2189062945"/>
                    </a:ext>
                  </a:extLst>
                </a:gridCol>
                <a:gridCol w="1746530">
                  <a:extLst>
                    <a:ext uri="{9D8B030D-6E8A-4147-A177-3AD203B41FA5}">
                      <a16:colId xmlns:a16="http://schemas.microsoft.com/office/drawing/2014/main" val="1849828333"/>
                    </a:ext>
                  </a:extLst>
                </a:gridCol>
              </a:tblGrid>
              <a:tr h="2873623">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What benefits can individual researchers gain when practicing open science? </a:t>
                      </a:r>
                      <a:endParaRPr lang="en-US" sz="2600" b="0" i="0" u="none" strike="noStrike">
                        <a:effectLst/>
                        <a:latin typeface="Arial" panose="020B0604020202020204" pitchFamily="34" charset="0"/>
                      </a:endParaRPr>
                    </a:p>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6491" marR="96491" marT="1340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Receiving credit for more types of contributions. </a:t>
                      </a:r>
                      <a:endParaRPr lang="en-US" sz="2600" b="0" i="0" u="none" strike="noStrike">
                        <a:effectLst/>
                        <a:latin typeface="Arial" panose="020B0604020202020204" pitchFamily="34" charset="0"/>
                      </a:endParaRPr>
                    </a:p>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6491" marR="96491" marT="1340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Receiving credit for more types of contributions is a benefit that individual researchers can gain when practicing open science.</a:t>
                      </a:r>
                      <a:endParaRPr lang="en-US" sz="2600" b="0" i="0" u="none" strike="noStrike">
                        <a:effectLst/>
                        <a:latin typeface="Arial" panose="020B0604020202020204" pitchFamily="34" charset="0"/>
                      </a:endParaRPr>
                    </a:p>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6491" marR="96491" marT="1340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‘Why is open science important’</a:t>
                      </a:r>
                      <a:endParaRPr lang="en-US" sz="2600" b="0" i="0" u="none" strike="noStrike">
                        <a:effectLst/>
                        <a:latin typeface="Arial" panose="020B0604020202020204" pitchFamily="34" charset="0"/>
                      </a:endParaRPr>
                    </a:p>
                  </a:txBody>
                  <a:tcPr marL="96491" marR="96491" marT="1340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-identify benefits to researchers</a:t>
                      </a:r>
                      <a:endParaRPr lang="en-US" sz="2600" b="0" i="0" u="none" strike="noStrike">
                        <a:effectLst/>
                        <a:latin typeface="Arial" panose="020B0604020202020204" pitchFamily="34" charset="0"/>
                      </a:endParaRPr>
                    </a:p>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-extend this to community-led</a:t>
                      </a:r>
                      <a:endParaRPr lang="en-US" sz="2600" b="0" i="0" u="none" strike="noStrike">
                        <a:effectLst/>
                        <a:latin typeface="Arial" panose="020B0604020202020204" pitchFamily="34" charset="0"/>
                      </a:endParaRPr>
                    </a:p>
                  </a:txBody>
                  <a:tcPr marL="96491" marR="96491" marT="1340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“We need more WE science rather than ME science.”</a:t>
                      </a:r>
                      <a:endParaRPr lang="en-US" sz="2600" b="0" i="0" u="none" strike="noStrike">
                        <a:effectLst/>
                        <a:latin typeface="Arial" panose="020B0604020202020204" pitchFamily="34" charset="0"/>
                      </a:endParaRPr>
                    </a:p>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Harlan Krumholz,</a:t>
                      </a:r>
                      <a:b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b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Yale School of Medicine at 2022 CZI Meeting</a:t>
                      </a:r>
                      <a:endParaRPr lang="en-US" sz="2600" b="0" i="0" u="none" strike="noStrike">
                        <a:effectLst/>
                        <a:latin typeface="Arial" panose="020B0604020202020204" pitchFamily="34" charset="0"/>
                      </a:endParaRPr>
                    </a:p>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6491" marR="96491" marT="1340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142309"/>
                  </a:ext>
                </a:extLst>
              </a:tr>
              <a:tr h="2617895">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6491" marR="96491" marT="1340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Greater visibility of one’s research. </a:t>
                      </a:r>
                      <a:endParaRPr lang="en-US" sz="2600" b="0" i="0" u="none" strike="noStrike">
                        <a:effectLst/>
                        <a:latin typeface="Arial" panose="020B0604020202020204" pitchFamily="34" charset="0"/>
                      </a:endParaRPr>
                    </a:p>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6491" marR="96491" marT="1340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Greater visibility of one’s research is a benefit that individual researchers can gain when practicing open science.</a:t>
                      </a:r>
                      <a:endParaRPr lang="en-US" sz="2600" b="0" i="0" u="none" strike="noStrike">
                        <a:effectLst/>
                        <a:latin typeface="Arial" panose="020B0604020202020204" pitchFamily="34" charset="0"/>
                      </a:endParaRPr>
                    </a:p>
                    <a:p>
                      <a:pPr algn="ctr"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6491" marR="96491" marT="1340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6491" marR="96491" marT="1340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6491" marR="96491" marT="1340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7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96491" marR="96491" marT="1340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1033245"/>
                  </a:ext>
                </a:extLst>
              </a:tr>
            </a:tbl>
          </a:graphicData>
        </a:graphic>
      </p:graphicFrame>
    </p:spTree>
    <p:extLst>
      <p:ext uri="{BB962C8B-B14F-4D97-AF65-F5344CB8AC3E}">
        <p14:creationId xmlns:p14="http://schemas.microsoft.com/office/powerpoint/2010/main" val="3329368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5302-5310-7CFC-D672-E937D3FEA970}"/>
              </a:ext>
            </a:extLst>
          </p:cNvPr>
          <p:cNvSpPr>
            <a:spLocks noGrp="1"/>
          </p:cNvSpPr>
          <p:nvPr>
            <p:ph type="title"/>
          </p:nvPr>
        </p:nvSpPr>
        <p:spPr/>
        <p:txBody>
          <a:bodyPr>
            <a:normAutofit/>
          </a:bodyPr>
          <a:lstStyle/>
          <a:p>
            <a:r>
              <a:rPr lang="en-GB" sz="3200" dirty="0" err="1"/>
              <a:t>S4</a:t>
            </a:r>
            <a:r>
              <a:rPr lang="en-GB" sz="3200" dirty="0"/>
              <a:t>: Protecting privacy and promote data security with different legal tools and guidance on acceptable ways of working </a:t>
            </a:r>
            <a:endParaRPr lang="en-IT" sz="3200" dirty="0"/>
          </a:p>
        </p:txBody>
      </p:sp>
      <p:sp>
        <p:nvSpPr>
          <p:cNvPr id="3" name="Content Placeholder 2">
            <a:extLst>
              <a:ext uri="{FF2B5EF4-FFF2-40B4-BE49-F238E27FC236}">
                <a16:creationId xmlns:a16="http://schemas.microsoft.com/office/drawing/2014/main" id="{CEC4DCF6-9FD4-31A6-56EE-22C37A745301}"/>
              </a:ext>
            </a:extLst>
          </p:cNvPr>
          <p:cNvSpPr>
            <a:spLocks noGrp="1"/>
          </p:cNvSpPr>
          <p:nvPr>
            <p:ph idx="1"/>
          </p:nvPr>
        </p:nvSpPr>
        <p:spPr/>
        <p:txBody>
          <a:bodyPr/>
          <a:lstStyle/>
          <a:p>
            <a:r>
              <a:rPr lang="en-GB" dirty="0"/>
              <a:t>Protections for people and data</a:t>
            </a:r>
          </a:p>
          <a:p>
            <a:r>
              <a:rPr lang="en-GB" dirty="0"/>
              <a:t>Intellectual property -- Copy right, Trademark, Patents, Public domain (for the test)</a:t>
            </a:r>
          </a:p>
          <a:p>
            <a:r>
              <a:rPr lang="en-GB" dirty="0"/>
              <a:t>Licensing – for the test and how to use licensing to advance </a:t>
            </a:r>
            <a:r>
              <a:rPr lang="en-GB" dirty="0" err="1"/>
              <a:t>EJ</a:t>
            </a:r>
            <a:endParaRPr lang="en-GB" dirty="0"/>
          </a:p>
          <a:p>
            <a:r>
              <a:rPr lang="en-GB" dirty="0"/>
              <a:t>Controlled and dangerous to share research – working with partners and oversight</a:t>
            </a:r>
          </a:p>
          <a:p>
            <a:endParaRPr lang="en-GB" dirty="0"/>
          </a:p>
          <a:p>
            <a:endParaRPr lang="en-IT" dirty="0"/>
          </a:p>
        </p:txBody>
      </p:sp>
    </p:spTree>
    <p:extLst>
      <p:ext uri="{BB962C8B-B14F-4D97-AF65-F5344CB8AC3E}">
        <p14:creationId xmlns:p14="http://schemas.microsoft.com/office/powerpoint/2010/main" val="1749238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F9A6E9-F2B0-057F-E77F-959DB1CE75D4}"/>
              </a:ext>
            </a:extLst>
          </p:cNvPr>
          <p:cNvSpPr>
            <a:spLocks noGrp="1"/>
          </p:cNvSpPr>
          <p:nvPr>
            <p:ph type="title"/>
          </p:nvPr>
        </p:nvSpPr>
        <p:spPr/>
        <p:txBody>
          <a:bodyPr/>
          <a:lstStyle/>
          <a:p>
            <a:r>
              <a:rPr lang="en-IT"/>
              <a:t>S4: test</a:t>
            </a:r>
          </a:p>
        </p:txBody>
      </p:sp>
      <p:graphicFrame>
        <p:nvGraphicFramePr>
          <p:cNvPr id="5" name="Table 4">
            <a:extLst>
              <a:ext uri="{FF2B5EF4-FFF2-40B4-BE49-F238E27FC236}">
                <a16:creationId xmlns:a16="http://schemas.microsoft.com/office/drawing/2014/main" id="{837E988C-E196-6032-EAC3-F3E2103FBDF8}"/>
              </a:ext>
            </a:extLst>
          </p:cNvPr>
          <p:cNvGraphicFramePr>
            <a:graphicFrameLocks noGrp="1"/>
          </p:cNvGraphicFramePr>
          <p:nvPr>
            <p:extLst>
              <p:ext uri="{D42A27DB-BD31-4B8C-83A1-F6EECF244321}">
                <p14:modId xmlns:p14="http://schemas.microsoft.com/office/powerpoint/2010/main" val="1213179306"/>
              </p:ext>
            </p:extLst>
          </p:nvPr>
        </p:nvGraphicFramePr>
        <p:xfrm>
          <a:off x="166255" y="183861"/>
          <a:ext cx="11918373" cy="5760720"/>
        </p:xfrm>
        <a:graphic>
          <a:graphicData uri="http://schemas.openxmlformats.org/drawingml/2006/table">
            <a:tbl>
              <a:tblPr firstRow="1" firstCol="1" bandRow="1">
                <a:tableStyleId>{5C22544A-7EE6-4342-B048-85BDC9FD1C3A}</a:tableStyleId>
              </a:tblPr>
              <a:tblGrid>
                <a:gridCol w="5935269">
                  <a:extLst>
                    <a:ext uri="{9D8B030D-6E8A-4147-A177-3AD203B41FA5}">
                      <a16:colId xmlns:a16="http://schemas.microsoft.com/office/drawing/2014/main" val="1092248272"/>
                    </a:ext>
                  </a:extLst>
                </a:gridCol>
                <a:gridCol w="1310252">
                  <a:extLst>
                    <a:ext uri="{9D8B030D-6E8A-4147-A177-3AD203B41FA5}">
                      <a16:colId xmlns:a16="http://schemas.microsoft.com/office/drawing/2014/main" val="1825993775"/>
                    </a:ext>
                  </a:extLst>
                </a:gridCol>
                <a:gridCol w="4672852">
                  <a:extLst>
                    <a:ext uri="{9D8B030D-6E8A-4147-A177-3AD203B41FA5}">
                      <a16:colId xmlns:a16="http://schemas.microsoft.com/office/drawing/2014/main" val="1055123945"/>
                    </a:ext>
                  </a:extLst>
                </a:gridCol>
              </a:tblGrid>
              <a:tr h="1297767">
                <a:tc>
                  <a:txBody>
                    <a:bodyPr/>
                    <a:lstStyle/>
                    <a:p>
                      <a:r>
                        <a:rPr lang="en-IT" sz="1800" b="0" kern="100" dirty="0">
                          <a:solidFill>
                            <a:schemeClr val="tx1"/>
                          </a:solidFill>
                          <a:effectLst/>
                        </a:rPr>
                        <a:t>Sharing all research products (eg. data, code, results) makes the scientific process less transparent, which may decrease public trust in science. </a:t>
                      </a:r>
                    </a:p>
                    <a:p>
                      <a:r>
                        <a:rPr lang="en-IT" sz="1800" b="0" kern="100" dirty="0">
                          <a:solidFill>
                            <a:schemeClr val="tx1"/>
                          </a:solidFill>
                          <a:effectLst/>
                        </a:rPr>
                        <a:t>Decide whether the statement above is true or false.</a:t>
                      </a:r>
                    </a:p>
                    <a:p>
                      <a:r>
                        <a:rPr lang="en-IT" sz="1800" b="0" kern="100" dirty="0">
                          <a:solidFill>
                            <a:schemeClr val="tx1"/>
                          </a:solidFill>
                          <a:effectLst/>
                        </a:rPr>
                        <a:t> </a:t>
                      </a:r>
                      <a:endParaRPr lang="en-IT" sz="1800" b="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28627" marR="28627" marT="0" marB="0">
                    <a:solidFill>
                      <a:schemeClr val="tx2">
                        <a:lumMod val="10000"/>
                        <a:lumOff val="90000"/>
                      </a:schemeClr>
                    </a:solidFill>
                  </a:tcPr>
                </a:tc>
                <a:tc>
                  <a:txBody>
                    <a:bodyPr/>
                    <a:lstStyle/>
                    <a:p>
                      <a:r>
                        <a:rPr lang="en-US" sz="1800" b="0" kern="100" dirty="0">
                          <a:solidFill>
                            <a:schemeClr val="tx1"/>
                          </a:solidFill>
                          <a:effectLst/>
                        </a:rPr>
                        <a:t>False</a:t>
                      </a:r>
                      <a:endParaRPr lang="en-IT" sz="1800" b="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28627" marR="28627" marT="0" marB="0">
                    <a:solidFill>
                      <a:schemeClr val="tx2">
                        <a:lumMod val="10000"/>
                        <a:lumOff val="90000"/>
                      </a:schemeClr>
                    </a:solidFill>
                  </a:tcPr>
                </a:tc>
                <a:tc>
                  <a:txBody>
                    <a:bodyPr/>
                    <a:lstStyle/>
                    <a:p>
                      <a:r>
                        <a:rPr lang="en-IT" sz="1800" b="0" kern="100" dirty="0">
                          <a:solidFill>
                            <a:schemeClr val="tx1"/>
                          </a:solidFill>
                          <a:effectLst/>
                        </a:rPr>
                        <a:t>Sharing all research products makes the scientific process more transparent which may help increase public trust in science.</a:t>
                      </a:r>
                    </a:p>
                    <a:p>
                      <a:r>
                        <a:rPr lang="en-IT" sz="1800" b="0" kern="100" dirty="0">
                          <a:solidFill>
                            <a:schemeClr val="tx1"/>
                          </a:solidFill>
                          <a:effectLst/>
                        </a:rPr>
                        <a:t> </a:t>
                      </a:r>
                      <a:endParaRPr lang="en-IT" sz="1800" b="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28627" marR="28627" marT="0" marB="0">
                    <a:solidFill>
                      <a:schemeClr val="tx2">
                        <a:lumMod val="10000"/>
                        <a:lumOff val="90000"/>
                      </a:schemeClr>
                    </a:solidFill>
                  </a:tcPr>
                </a:tc>
                <a:extLst>
                  <a:ext uri="{0D108BD9-81ED-4DB2-BD59-A6C34878D82A}">
                    <a16:rowId xmlns:a16="http://schemas.microsoft.com/office/drawing/2014/main" val="298501277"/>
                  </a:ext>
                </a:extLst>
              </a:tr>
              <a:tr h="687053">
                <a:tc>
                  <a:txBody>
                    <a:bodyPr/>
                    <a:lstStyle/>
                    <a:p>
                      <a:r>
                        <a:rPr lang="en-IT" sz="1800" b="0" kern="100">
                          <a:solidFill>
                            <a:schemeClr val="tx1"/>
                          </a:solidFill>
                          <a:effectLst/>
                        </a:rPr>
                        <a:t>Which of the following is NOT a common type of license: </a:t>
                      </a:r>
                    </a:p>
                    <a:p>
                      <a:r>
                        <a:rPr lang="en-IT" sz="1800" b="0" kern="100">
                          <a:solidFill>
                            <a:schemeClr val="tx1"/>
                          </a:solidFill>
                          <a:effectLst/>
                        </a:rPr>
                        <a:t>Copyright </a:t>
                      </a:r>
                    </a:p>
                    <a:p>
                      <a:r>
                        <a:rPr lang="en-IT" sz="1800" b="0" kern="100">
                          <a:solidFill>
                            <a:schemeClr val="tx1"/>
                          </a:solidFill>
                          <a:effectLst/>
                        </a:rPr>
                        <a:t>Permissive </a:t>
                      </a:r>
                    </a:p>
                    <a:p>
                      <a:r>
                        <a:rPr lang="en-IT" sz="1800" b="0" kern="100">
                          <a:solidFill>
                            <a:schemeClr val="tx1"/>
                          </a:solidFill>
                          <a:effectLst/>
                        </a:rPr>
                        <a:t>Creative Commons </a:t>
                      </a:r>
                    </a:p>
                    <a:p>
                      <a:r>
                        <a:rPr lang="en-IT" sz="1800" b="0" kern="100">
                          <a:solidFill>
                            <a:schemeClr val="tx1"/>
                          </a:solidFill>
                          <a:effectLst/>
                        </a:rPr>
                        <a:t> </a:t>
                      </a:r>
                      <a:endParaRPr lang="en-IT" sz="1800" b="0" kern="10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28627" marR="28627" marT="0" marB="0">
                    <a:solidFill>
                      <a:schemeClr val="bg1">
                        <a:lumMod val="85000"/>
                      </a:schemeClr>
                    </a:solidFill>
                  </a:tcPr>
                </a:tc>
                <a:tc>
                  <a:txBody>
                    <a:bodyPr/>
                    <a:lstStyle/>
                    <a:p>
                      <a:r>
                        <a:rPr lang="en-IT" sz="1800" b="0" kern="100">
                          <a:solidFill>
                            <a:schemeClr val="tx1"/>
                          </a:solidFill>
                          <a:effectLst/>
                        </a:rPr>
                        <a:t>Copyright </a:t>
                      </a:r>
                    </a:p>
                    <a:p>
                      <a:r>
                        <a:rPr lang="en-IT" sz="1800" b="0" kern="100">
                          <a:solidFill>
                            <a:schemeClr val="tx1"/>
                          </a:solidFill>
                          <a:effectLst/>
                        </a:rPr>
                        <a:t> </a:t>
                      </a:r>
                      <a:endParaRPr lang="en-IT" sz="1800" b="0" kern="10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28627" marR="28627" marT="0" marB="0">
                    <a:solidFill>
                      <a:schemeClr val="bg1">
                        <a:lumMod val="85000"/>
                      </a:schemeClr>
                    </a:solidFill>
                  </a:tcPr>
                </a:tc>
                <a:tc>
                  <a:txBody>
                    <a:bodyPr/>
                    <a:lstStyle/>
                    <a:p>
                      <a:r>
                        <a:rPr lang="en-IT" sz="1800" b="0" kern="100" dirty="0">
                          <a:solidFill>
                            <a:schemeClr val="tx1"/>
                          </a:solidFill>
                          <a:effectLst/>
                        </a:rPr>
                        <a:t>It gives permission to apply for a license but is not, itself, a type of license.</a:t>
                      </a:r>
                    </a:p>
                    <a:p>
                      <a:r>
                        <a:rPr lang="en-IT" sz="1800" b="0" kern="100" dirty="0">
                          <a:solidFill>
                            <a:schemeClr val="tx1"/>
                          </a:solidFill>
                          <a:effectLst/>
                        </a:rPr>
                        <a:t> </a:t>
                      </a:r>
                      <a:endParaRPr lang="en-IT" sz="1800" b="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28627" marR="28627" marT="0" marB="0">
                    <a:solidFill>
                      <a:schemeClr val="bg1">
                        <a:lumMod val="85000"/>
                      </a:schemeClr>
                    </a:solidFill>
                  </a:tcPr>
                </a:tc>
                <a:extLst>
                  <a:ext uri="{0D108BD9-81ED-4DB2-BD59-A6C34878D82A}">
                    <a16:rowId xmlns:a16="http://schemas.microsoft.com/office/drawing/2014/main" val="1174486667"/>
                  </a:ext>
                </a:extLst>
              </a:tr>
              <a:tr h="1068750">
                <a:tc>
                  <a:txBody>
                    <a:bodyPr/>
                    <a:lstStyle/>
                    <a:p>
                      <a:r>
                        <a:rPr lang="en-IT" sz="1800" b="0" kern="100" dirty="0">
                          <a:solidFill>
                            <a:schemeClr val="tx1"/>
                          </a:solidFill>
                          <a:effectLst/>
                        </a:rPr>
                        <a:t>By applying a license to your work, you make clear what others can do with the things you're sharing, and also establish the conditions under which you're providing them. </a:t>
                      </a:r>
                    </a:p>
                    <a:p>
                      <a:r>
                        <a:rPr lang="en-IT" sz="1800" b="0" kern="100" dirty="0">
                          <a:solidFill>
                            <a:schemeClr val="tx1"/>
                          </a:solidFill>
                          <a:effectLst/>
                        </a:rPr>
                        <a:t> </a:t>
                      </a:r>
                      <a:endParaRPr lang="en-IT" sz="1800" b="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28627" marR="28627" marT="0" marB="0">
                    <a:solidFill>
                      <a:schemeClr val="accent3">
                        <a:lumMod val="20000"/>
                        <a:lumOff val="80000"/>
                      </a:schemeClr>
                    </a:solidFill>
                  </a:tcPr>
                </a:tc>
                <a:tc>
                  <a:txBody>
                    <a:bodyPr/>
                    <a:lstStyle/>
                    <a:p>
                      <a:r>
                        <a:rPr lang="en-US" sz="1800" b="0" kern="100">
                          <a:solidFill>
                            <a:schemeClr val="tx1"/>
                          </a:solidFill>
                          <a:effectLst/>
                        </a:rPr>
                        <a:t>True</a:t>
                      </a:r>
                      <a:endParaRPr lang="en-IT" sz="1800" b="0" kern="10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28627" marR="28627" marT="0" marB="0">
                    <a:solidFill>
                      <a:schemeClr val="accent3">
                        <a:lumMod val="20000"/>
                        <a:lumOff val="80000"/>
                      </a:schemeClr>
                    </a:solidFill>
                  </a:tcPr>
                </a:tc>
                <a:tc>
                  <a:txBody>
                    <a:bodyPr/>
                    <a:lstStyle/>
                    <a:p>
                      <a:r>
                        <a:rPr lang="en-IT" sz="1800" b="0" kern="100" dirty="0">
                          <a:solidFill>
                            <a:schemeClr val="tx1"/>
                          </a:solidFill>
                          <a:effectLst/>
                        </a:rPr>
                        <a:t>Licensing is a way to specify under what conditions, if any, others can use, build upon, or distribute your work.</a:t>
                      </a:r>
                    </a:p>
                    <a:p>
                      <a:r>
                        <a:rPr lang="en-IT" sz="1800" b="0" kern="100" dirty="0">
                          <a:solidFill>
                            <a:schemeClr val="tx1"/>
                          </a:solidFill>
                          <a:effectLst/>
                        </a:rPr>
                        <a:t> </a:t>
                      </a:r>
                      <a:endParaRPr lang="en-IT" sz="1800" b="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28627" marR="28627" marT="0" marB="0">
                    <a:solidFill>
                      <a:schemeClr val="accent3">
                        <a:lumMod val="20000"/>
                        <a:lumOff val="80000"/>
                      </a:schemeClr>
                    </a:solidFill>
                  </a:tcPr>
                </a:tc>
                <a:extLst>
                  <a:ext uri="{0D108BD9-81ED-4DB2-BD59-A6C34878D82A}">
                    <a16:rowId xmlns:a16="http://schemas.microsoft.com/office/drawing/2014/main" val="192424705"/>
                  </a:ext>
                </a:extLst>
              </a:tr>
              <a:tr h="1297767">
                <a:tc>
                  <a:txBody>
                    <a:bodyPr/>
                    <a:lstStyle/>
                    <a:p>
                      <a:r>
                        <a:rPr lang="en-IT" sz="1800" b="0" kern="100">
                          <a:solidFill>
                            <a:schemeClr val="tx1"/>
                          </a:solidFill>
                          <a:effectLst/>
                        </a:rPr>
                        <a:t>What type of Intellectual Property protection would you need if you created a new way of doing something or offered a new technical solution to a problem? </a:t>
                      </a:r>
                    </a:p>
                    <a:p>
                      <a:r>
                        <a:rPr lang="en-IT" sz="1800" b="0" kern="100">
                          <a:solidFill>
                            <a:schemeClr val="tx1"/>
                          </a:solidFill>
                          <a:effectLst/>
                        </a:rPr>
                        <a:t>Patent </a:t>
                      </a:r>
                    </a:p>
                    <a:p>
                      <a:r>
                        <a:rPr lang="en-IT" sz="1800" b="0" kern="100">
                          <a:solidFill>
                            <a:schemeClr val="tx1"/>
                          </a:solidFill>
                          <a:effectLst/>
                        </a:rPr>
                        <a:t>Trademark </a:t>
                      </a:r>
                    </a:p>
                    <a:p>
                      <a:r>
                        <a:rPr lang="en-IT" sz="1800" b="0" kern="100">
                          <a:solidFill>
                            <a:schemeClr val="tx1"/>
                          </a:solidFill>
                          <a:effectLst/>
                        </a:rPr>
                        <a:t>Copyright </a:t>
                      </a:r>
                    </a:p>
                    <a:p>
                      <a:r>
                        <a:rPr lang="en-IT" sz="1800" b="0" kern="100">
                          <a:solidFill>
                            <a:schemeClr val="tx1"/>
                          </a:solidFill>
                          <a:effectLst/>
                        </a:rPr>
                        <a:t> </a:t>
                      </a:r>
                      <a:endParaRPr lang="en-IT" sz="1800" b="0" kern="10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28627" marR="28627" marT="0" marB="0">
                    <a:solidFill>
                      <a:schemeClr val="accent5">
                        <a:lumMod val="20000"/>
                        <a:lumOff val="80000"/>
                      </a:schemeClr>
                    </a:solidFill>
                  </a:tcPr>
                </a:tc>
                <a:tc>
                  <a:txBody>
                    <a:bodyPr/>
                    <a:lstStyle/>
                    <a:p>
                      <a:r>
                        <a:rPr lang="en-US" sz="1800" b="0" kern="100">
                          <a:solidFill>
                            <a:schemeClr val="tx1"/>
                          </a:solidFill>
                          <a:effectLst/>
                        </a:rPr>
                        <a:t>patent</a:t>
                      </a:r>
                      <a:endParaRPr lang="en-IT" sz="1800" b="0" kern="10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28627" marR="28627" marT="0" marB="0">
                    <a:solidFill>
                      <a:schemeClr val="accent5">
                        <a:lumMod val="20000"/>
                        <a:lumOff val="80000"/>
                      </a:schemeClr>
                    </a:solidFill>
                  </a:tcPr>
                </a:tc>
                <a:tc>
                  <a:txBody>
                    <a:bodyPr/>
                    <a:lstStyle/>
                    <a:p>
                      <a:r>
                        <a:rPr lang="en-IT" sz="1800" b="0" kern="100" dirty="0">
                          <a:solidFill>
                            <a:schemeClr val="tx1"/>
                          </a:solidFill>
                          <a:effectLst/>
                        </a:rPr>
                        <a:t>A patent is an exclusive right granted for an invention, which is a product or a process that provides, in general, a new way of doing something, or offers a new technical solution to a problem.</a:t>
                      </a:r>
                    </a:p>
                    <a:p>
                      <a:r>
                        <a:rPr lang="en-IT" sz="1800" b="0" kern="100" dirty="0">
                          <a:solidFill>
                            <a:schemeClr val="tx1"/>
                          </a:solidFill>
                          <a:effectLst/>
                        </a:rPr>
                        <a:t> </a:t>
                      </a:r>
                      <a:endParaRPr lang="en-IT" sz="1800" b="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28627" marR="28627" marT="0" marB="0">
                    <a:solidFill>
                      <a:schemeClr val="accent5">
                        <a:lumMod val="20000"/>
                        <a:lumOff val="80000"/>
                      </a:schemeClr>
                    </a:solidFill>
                  </a:tcPr>
                </a:tc>
                <a:extLst>
                  <a:ext uri="{0D108BD9-81ED-4DB2-BD59-A6C34878D82A}">
                    <a16:rowId xmlns:a16="http://schemas.microsoft.com/office/drawing/2014/main" val="333183459"/>
                  </a:ext>
                </a:extLst>
              </a:tr>
            </a:tbl>
          </a:graphicData>
        </a:graphic>
      </p:graphicFrame>
    </p:spTree>
    <p:extLst>
      <p:ext uri="{BB962C8B-B14F-4D97-AF65-F5344CB8AC3E}">
        <p14:creationId xmlns:p14="http://schemas.microsoft.com/office/powerpoint/2010/main" val="42934575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4D93B-E584-19DF-7C3A-86FD74BB76F5}"/>
              </a:ext>
            </a:extLst>
          </p:cNvPr>
          <p:cNvSpPr>
            <a:spLocks noGrp="1"/>
          </p:cNvSpPr>
          <p:nvPr>
            <p:ph type="title"/>
          </p:nvPr>
        </p:nvSpPr>
        <p:spPr/>
        <p:txBody>
          <a:bodyPr/>
          <a:lstStyle/>
          <a:p>
            <a:r>
              <a:rPr lang="en-GB" dirty="0" err="1"/>
              <a:t>S5</a:t>
            </a:r>
            <a:r>
              <a:rPr lang="en-GB" dirty="0"/>
              <a:t>: Lowering barriers and planning for Open Science</a:t>
            </a:r>
            <a:endParaRPr lang="en-IT" dirty="0"/>
          </a:p>
        </p:txBody>
      </p:sp>
      <p:sp>
        <p:nvSpPr>
          <p:cNvPr id="3" name="Content Placeholder 2">
            <a:extLst>
              <a:ext uri="{FF2B5EF4-FFF2-40B4-BE49-F238E27FC236}">
                <a16:creationId xmlns:a16="http://schemas.microsoft.com/office/drawing/2014/main" id="{3524CB4B-10E2-D591-AC32-A5400C01C1B6}"/>
              </a:ext>
            </a:extLst>
          </p:cNvPr>
          <p:cNvSpPr>
            <a:spLocks noGrp="1"/>
          </p:cNvSpPr>
          <p:nvPr>
            <p:ph idx="1"/>
          </p:nvPr>
        </p:nvSpPr>
        <p:spPr/>
        <p:txBody>
          <a:bodyPr/>
          <a:lstStyle/>
          <a:p>
            <a:r>
              <a:rPr lang="en-GB" dirty="0"/>
              <a:t>Fears about open science – for professional and community-based researchers</a:t>
            </a:r>
          </a:p>
          <a:p>
            <a:r>
              <a:rPr lang="en-GB" dirty="0"/>
              <a:t>Incentives for professional and community-based researchers</a:t>
            </a:r>
          </a:p>
          <a:p>
            <a:r>
              <a:rPr lang="en-GB" dirty="0"/>
              <a:t>Technological, social, and other barriers to more openness in community-led OS</a:t>
            </a:r>
          </a:p>
          <a:p>
            <a:r>
              <a:rPr lang="en-GB" dirty="0"/>
              <a:t>Starting a plan</a:t>
            </a:r>
          </a:p>
          <a:p>
            <a:endParaRPr lang="en-GB" dirty="0"/>
          </a:p>
          <a:p>
            <a:endParaRPr lang="en-IT" dirty="0"/>
          </a:p>
        </p:txBody>
      </p:sp>
    </p:spTree>
    <p:extLst>
      <p:ext uri="{BB962C8B-B14F-4D97-AF65-F5344CB8AC3E}">
        <p14:creationId xmlns:p14="http://schemas.microsoft.com/office/powerpoint/2010/main" val="3238370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A3EA1-6192-2EE0-7AE4-95276617B545}"/>
              </a:ext>
            </a:extLst>
          </p:cNvPr>
          <p:cNvSpPr>
            <a:spLocks noGrp="1"/>
          </p:cNvSpPr>
          <p:nvPr>
            <p:ph type="title"/>
          </p:nvPr>
        </p:nvSpPr>
        <p:spPr/>
        <p:txBody>
          <a:bodyPr/>
          <a:lstStyle/>
          <a:p>
            <a:r>
              <a:rPr lang="en-IT" dirty="0"/>
              <a:t>Open science and EJ</a:t>
            </a:r>
          </a:p>
        </p:txBody>
      </p:sp>
      <p:sp>
        <p:nvSpPr>
          <p:cNvPr id="3" name="Content Placeholder 2">
            <a:extLst>
              <a:ext uri="{FF2B5EF4-FFF2-40B4-BE49-F238E27FC236}">
                <a16:creationId xmlns:a16="http://schemas.microsoft.com/office/drawing/2014/main" id="{3A9FD071-A533-1CB1-F9C5-8763590D1DDD}"/>
              </a:ext>
            </a:extLst>
          </p:cNvPr>
          <p:cNvSpPr>
            <a:spLocks noGrp="1"/>
          </p:cNvSpPr>
          <p:nvPr>
            <p:ph idx="1"/>
          </p:nvPr>
        </p:nvSpPr>
        <p:spPr/>
        <p:txBody>
          <a:bodyPr/>
          <a:lstStyle/>
          <a:p>
            <a:r>
              <a:rPr lang="en-IT" dirty="0"/>
              <a:t>Flip chart on </a:t>
            </a:r>
          </a:p>
          <a:p>
            <a:pPr lvl="1"/>
            <a:r>
              <a:rPr lang="en-IT" dirty="0"/>
              <a:t>Fears</a:t>
            </a:r>
          </a:p>
          <a:p>
            <a:pPr lvl="1"/>
            <a:r>
              <a:rPr lang="en-IT" dirty="0"/>
              <a:t>Incentives</a:t>
            </a:r>
          </a:p>
          <a:p>
            <a:pPr lvl="1"/>
            <a:r>
              <a:rPr lang="en-IT" dirty="0"/>
              <a:t>Barriers</a:t>
            </a:r>
          </a:p>
          <a:p>
            <a:endParaRPr lang="en-IT" dirty="0"/>
          </a:p>
          <a:p>
            <a:endParaRPr lang="en-IT" dirty="0"/>
          </a:p>
          <a:p>
            <a:endParaRPr lang="en-IT" dirty="0"/>
          </a:p>
        </p:txBody>
      </p:sp>
    </p:spTree>
    <p:extLst>
      <p:ext uri="{BB962C8B-B14F-4D97-AF65-F5344CB8AC3E}">
        <p14:creationId xmlns:p14="http://schemas.microsoft.com/office/powerpoint/2010/main" val="1909099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7E26EB-55E1-3B9C-6CAD-A7640565EF50}"/>
              </a:ext>
            </a:extLst>
          </p:cNvPr>
          <p:cNvSpPr>
            <a:spLocks noGrp="1"/>
          </p:cNvSpPr>
          <p:nvPr>
            <p:ph type="title"/>
          </p:nvPr>
        </p:nvSpPr>
        <p:spPr/>
        <p:txBody>
          <a:bodyPr/>
          <a:lstStyle/>
          <a:p>
            <a:endParaRPr lang="en-IT"/>
          </a:p>
        </p:txBody>
      </p:sp>
      <p:sp>
        <p:nvSpPr>
          <p:cNvPr id="5" name="Rectangle 2">
            <a:extLst>
              <a:ext uri="{FF2B5EF4-FFF2-40B4-BE49-F238E27FC236}">
                <a16:creationId xmlns:a16="http://schemas.microsoft.com/office/drawing/2014/main" id="{B7C00063-E40B-A353-1FB7-A255194404A0}"/>
              </a:ext>
            </a:extLst>
          </p:cNvPr>
          <p:cNvSpPr>
            <a:spLocks noChangeArrowheads="1"/>
          </p:cNvSpPr>
          <p:nvPr/>
        </p:nvSpPr>
        <p:spPr bwMode="auto">
          <a:xfrm>
            <a:off x="-98855" y="2088290"/>
            <a:ext cx="2085798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T"/>
          </a:p>
        </p:txBody>
      </p:sp>
      <p:pic>
        <p:nvPicPr>
          <p:cNvPr id="11265" name="Picture 6" descr="A diagram of data collection&#10;&#10;Description automatically generated">
            <a:extLst>
              <a:ext uri="{FF2B5EF4-FFF2-40B4-BE49-F238E27FC236}">
                <a16:creationId xmlns:a16="http://schemas.microsoft.com/office/drawing/2014/main" id="{F833B90D-00F4-095D-59FE-B6CA28A5DC17}"/>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98855" y="2088290"/>
            <a:ext cx="12631900" cy="4621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9674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D52C99-9CE7-C234-2483-4E8C483D86BD}"/>
              </a:ext>
            </a:extLst>
          </p:cNvPr>
          <p:cNvSpPr>
            <a:spLocks noChangeArrowheads="1"/>
          </p:cNvSpPr>
          <p:nvPr/>
        </p:nvSpPr>
        <p:spPr bwMode="auto">
          <a:xfrm>
            <a:off x="2372498" y="316686"/>
            <a:ext cx="13887790" cy="47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T"/>
          </a:p>
        </p:txBody>
      </p:sp>
      <p:pic>
        <p:nvPicPr>
          <p:cNvPr id="12289" name="Picture 9" descr="A diagram of light bulb&#10;&#10;Description automatically generated">
            <a:extLst>
              <a:ext uri="{FF2B5EF4-FFF2-40B4-BE49-F238E27FC236}">
                <a16:creationId xmlns:a16="http://schemas.microsoft.com/office/drawing/2014/main" id="{5980ED32-4AAE-C9D6-B5DE-806808284926}"/>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372497" y="316686"/>
            <a:ext cx="6586250" cy="6454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6678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639620-DBD9-CF23-971B-C893F6593256}"/>
              </a:ext>
            </a:extLst>
          </p:cNvPr>
          <p:cNvSpPr>
            <a:spLocks noGrp="1"/>
          </p:cNvSpPr>
          <p:nvPr>
            <p:ph type="title"/>
          </p:nvPr>
        </p:nvSpPr>
        <p:spPr/>
        <p:txBody>
          <a:bodyPr>
            <a:normAutofit fontScale="90000"/>
          </a:bodyPr>
          <a:lstStyle/>
          <a:p>
            <a:r>
              <a:rPr lang="en-IT" sz="4400" b="1" kern="100" dirty="0">
                <a:effectLst/>
                <a:latin typeface="Calibri" panose="020F0502020204030204" pitchFamily="34" charset="0"/>
                <a:ea typeface="Calibri" panose="020F0502020204030204" pitchFamily="34" charset="0"/>
                <a:cs typeface="Times New Roman" panose="02020603050405020304" pitchFamily="18" charset="0"/>
              </a:rPr>
              <a:t> Steps to Open Science that Anyone Can Take</a:t>
            </a:r>
            <a:br>
              <a:rPr lang="en-IT"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IT" dirty="0"/>
          </a:p>
        </p:txBody>
      </p:sp>
      <p:sp>
        <p:nvSpPr>
          <p:cNvPr id="4" name="Content Placeholder 3">
            <a:extLst>
              <a:ext uri="{FF2B5EF4-FFF2-40B4-BE49-F238E27FC236}">
                <a16:creationId xmlns:a16="http://schemas.microsoft.com/office/drawing/2014/main" id="{95D03876-C6BB-2639-5526-6F01D48C2446}"/>
              </a:ext>
            </a:extLst>
          </p:cNvPr>
          <p:cNvSpPr>
            <a:spLocks noGrp="1"/>
          </p:cNvSpPr>
          <p:nvPr>
            <p:ph idx="1"/>
          </p:nvPr>
        </p:nvSpPr>
        <p:spPr/>
        <p:txBody>
          <a:bodyPr>
            <a:normAutofit/>
          </a:bodyPr>
          <a:lstStyle/>
          <a:p>
            <a:endParaRPr lang="en-IT"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T" sz="1800" kern="100" dirty="0">
                <a:effectLst/>
                <a:latin typeface="Calibri" panose="020F0502020204030204" pitchFamily="34" charset="0"/>
                <a:ea typeface="Calibri" panose="020F0502020204030204" pitchFamily="34" charset="0"/>
                <a:cs typeface="Times New Roman" panose="02020603050405020304" pitchFamily="18" charset="0"/>
              </a:rPr>
              <a:t>Keep seeking best practices for open science, and develop plans to be more open in your science or research.</a:t>
            </a:r>
          </a:p>
          <a:p>
            <a:r>
              <a:rPr lang="en-IT" sz="1800" kern="100" dirty="0">
                <a:effectLst/>
                <a:latin typeface="Calibri" panose="020F0502020204030204" pitchFamily="34" charset="0"/>
                <a:ea typeface="Calibri" panose="020F0502020204030204" pitchFamily="34" charset="0"/>
                <a:cs typeface="Times New Roman" panose="02020603050405020304" pitchFamily="18" charset="0"/>
              </a:rPr>
              <a:t>Think about all the different types of reviews you are involved with, and how to improve them with a goal of openness.</a:t>
            </a:r>
          </a:p>
          <a:p>
            <a:r>
              <a:rPr lang="en-IT" sz="1800" kern="100" dirty="0">
                <a:effectLst/>
                <a:latin typeface="Calibri" panose="020F0502020204030204" pitchFamily="34" charset="0"/>
                <a:ea typeface="Calibri" panose="020F0502020204030204" pitchFamily="34" charset="0"/>
                <a:cs typeface="Times New Roman" panose="02020603050405020304" pitchFamily="18" charset="0"/>
              </a:rPr>
              <a:t>Ask colleagues about open science activities, and award credit for them in evaluations.</a:t>
            </a:r>
          </a:p>
          <a:p>
            <a:r>
              <a:rPr lang="en-IT" sz="1800" kern="100" dirty="0">
                <a:effectLst/>
                <a:latin typeface="Calibri" panose="020F0502020204030204" pitchFamily="34" charset="0"/>
                <a:ea typeface="Calibri" panose="020F0502020204030204" pitchFamily="34" charset="0"/>
                <a:cs typeface="Times New Roman" panose="02020603050405020304" pitchFamily="18" charset="0"/>
              </a:rPr>
              <a:t>Engage with underrepresented communities to ensure science encourages a more equitable, impactful, and positive future.</a:t>
            </a:r>
          </a:p>
          <a:p>
            <a:endParaRPr lang="en-IT" dirty="0"/>
          </a:p>
        </p:txBody>
      </p:sp>
    </p:spTree>
    <p:extLst>
      <p:ext uri="{BB962C8B-B14F-4D97-AF65-F5344CB8AC3E}">
        <p14:creationId xmlns:p14="http://schemas.microsoft.com/office/powerpoint/2010/main" val="31470775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60FEE17-7565-22D1-5B3C-B120DAB68412}"/>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IT" sz="2600" dirty="0">
                <a:solidFill>
                  <a:srgbClr val="FFFFFF"/>
                </a:solidFill>
              </a:rPr>
              <a:t>S5 Test</a:t>
            </a:r>
          </a:p>
        </p:txBody>
      </p:sp>
      <p:graphicFrame>
        <p:nvGraphicFramePr>
          <p:cNvPr id="5" name="Table 4">
            <a:extLst>
              <a:ext uri="{FF2B5EF4-FFF2-40B4-BE49-F238E27FC236}">
                <a16:creationId xmlns:a16="http://schemas.microsoft.com/office/drawing/2014/main" id="{B2793E47-405B-928F-1CB4-AEEFB0DB706D}"/>
              </a:ext>
            </a:extLst>
          </p:cNvPr>
          <p:cNvGraphicFramePr>
            <a:graphicFrameLocks noGrp="1"/>
          </p:cNvGraphicFramePr>
          <p:nvPr>
            <p:extLst>
              <p:ext uri="{D42A27DB-BD31-4B8C-83A1-F6EECF244321}">
                <p14:modId xmlns:p14="http://schemas.microsoft.com/office/powerpoint/2010/main" val="125899980"/>
              </p:ext>
            </p:extLst>
          </p:nvPr>
        </p:nvGraphicFramePr>
        <p:xfrm>
          <a:off x="4038600" y="1377595"/>
          <a:ext cx="7188200" cy="4403119"/>
        </p:xfrm>
        <a:graphic>
          <a:graphicData uri="http://schemas.openxmlformats.org/drawingml/2006/table">
            <a:tbl>
              <a:tblPr firstRow="1" firstCol="1" bandRow="1"/>
              <a:tblGrid>
                <a:gridCol w="1877898">
                  <a:extLst>
                    <a:ext uri="{9D8B030D-6E8A-4147-A177-3AD203B41FA5}">
                      <a16:colId xmlns:a16="http://schemas.microsoft.com/office/drawing/2014/main" val="1405285823"/>
                    </a:ext>
                  </a:extLst>
                </a:gridCol>
                <a:gridCol w="1432394">
                  <a:extLst>
                    <a:ext uri="{9D8B030D-6E8A-4147-A177-3AD203B41FA5}">
                      <a16:colId xmlns:a16="http://schemas.microsoft.com/office/drawing/2014/main" val="1985277535"/>
                    </a:ext>
                  </a:extLst>
                </a:gridCol>
                <a:gridCol w="1877898">
                  <a:extLst>
                    <a:ext uri="{9D8B030D-6E8A-4147-A177-3AD203B41FA5}">
                      <a16:colId xmlns:a16="http://schemas.microsoft.com/office/drawing/2014/main" val="3759653472"/>
                    </a:ext>
                  </a:extLst>
                </a:gridCol>
                <a:gridCol w="666670">
                  <a:extLst>
                    <a:ext uri="{9D8B030D-6E8A-4147-A177-3AD203B41FA5}">
                      <a16:colId xmlns:a16="http://schemas.microsoft.com/office/drawing/2014/main" val="1361617956"/>
                    </a:ext>
                  </a:extLst>
                </a:gridCol>
                <a:gridCol w="666670">
                  <a:extLst>
                    <a:ext uri="{9D8B030D-6E8A-4147-A177-3AD203B41FA5}">
                      <a16:colId xmlns:a16="http://schemas.microsoft.com/office/drawing/2014/main" val="1697143624"/>
                    </a:ext>
                  </a:extLst>
                </a:gridCol>
                <a:gridCol w="666670">
                  <a:extLst>
                    <a:ext uri="{9D8B030D-6E8A-4147-A177-3AD203B41FA5}">
                      <a16:colId xmlns:a16="http://schemas.microsoft.com/office/drawing/2014/main" val="2308708127"/>
                    </a:ext>
                  </a:extLst>
                </a:gridCol>
              </a:tblGrid>
              <a:tr h="4099421">
                <a:tc>
                  <a:txBody>
                    <a:bodyPr/>
                    <a:lstStyle/>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All the needed infrastructure is in place to support open science across all disciplines. </a:t>
                      </a:r>
                      <a:endParaRPr lang="en-US" sz="2600" b="0" i="0" u="none" strike="noStrike">
                        <a:effectLst/>
                        <a:latin typeface="Arial" panose="020B0604020202020204" pitchFamily="34" charset="0"/>
                      </a:endParaRPr>
                    </a:p>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Decide whether the statement above is true or false.</a:t>
                      </a:r>
                      <a:endParaRPr lang="en-US" sz="2600" b="0" i="0" u="none" strike="noStrike">
                        <a:effectLst/>
                        <a:latin typeface="Arial" panose="020B0604020202020204" pitchFamily="34" charset="0"/>
                      </a:endParaRPr>
                    </a:p>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100792" marR="100792" marT="1399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False</a:t>
                      </a:r>
                      <a:endParaRPr lang="en-US" sz="2600" b="0" i="0" u="none" strike="noStrike">
                        <a:effectLst/>
                        <a:latin typeface="Arial" panose="020B0604020202020204" pitchFamily="34" charset="0"/>
                      </a:endParaRPr>
                    </a:p>
                  </a:txBody>
                  <a:tcPr marL="100792" marR="100792" marT="1399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There are many tools and resources for making our code, data, and results more open, but the required infrastructure is still being built, and may not be in place yet to support open science in each discipline.</a:t>
                      </a:r>
                      <a:endParaRPr lang="en-US" sz="2600" b="0" i="0" u="none" strike="noStrike">
                        <a:effectLst/>
                        <a:latin typeface="Arial" panose="020B0604020202020204" pitchFamily="34" charset="0"/>
                      </a:endParaRPr>
                    </a:p>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100792" marR="100792" marT="1399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100792" marR="100792" marT="1399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800" b="0" i="0" u="none" strike="noStrike" kern="10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a:effectLst/>
                        <a:latin typeface="Arial" panose="020B0604020202020204" pitchFamily="34" charset="0"/>
                      </a:endParaRPr>
                    </a:p>
                  </a:txBody>
                  <a:tcPr marL="100792" marR="100792" marT="1399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spcBef>
                          <a:spcPts val="0"/>
                        </a:spcBef>
                        <a:spcAft>
                          <a:spcPts val="0"/>
                        </a:spcAft>
                      </a:pPr>
                      <a:r>
                        <a:rPr lang="en-US" sz="1800" b="0" i="0" u="none" strike="noStrike" kern="100" dirty="0">
                          <a:effectLst/>
                          <a:latin typeface="Aptos" panose="020B0004020202020204" pitchFamily="34" charset="0"/>
                          <a:ea typeface="Times New Roman" panose="02020603050405020304" pitchFamily="18" charset="0"/>
                          <a:cs typeface="Times New Roman" panose="02020603050405020304" pitchFamily="18" charset="0"/>
                        </a:rPr>
                        <a:t> </a:t>
                      </a:r>
                      <a:endParaRPr lang="en-US" sz="2600" b="0" i="0" u="none" strike="noStrike" dirty="0">
                        <a:effectLst/>
                        <a:latin typeface="Arial" panose="020B0604020202020204" pitchFamily="34" charset="0"/>
                      </a:endParaRPr>
                    </a:p>
                  </a:txBody>
                  <a:tcPr marL="100792" marR="100792" marT="1399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9607624"/>
                  </a:ext>
                </a:extLst>
              </a:tr>
            </a:tbl>
          </a:graphicData>
        </a:graphic>
      </p:graphicFrame>
    </p:spTree>
    <p:extLst>
      <p:ext uri="{BB962C8B-B14F-4D97-AF65-F5344CB8AC3E}">
        <p14:creationId xmlns:p14="http://schemas.microsoft.com/office/powerpoint/2010/main" val="20460914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733F3-B5A7-859A-77BF-853FE4919C54}"/>
              </a:ext>
            </a:extLst>
          </p:cNvPr>
          <p:cNvSpPr>
            <a:spLocks noGrp="1"/>
          </p:cNvSpPr>
          <p:nvPr>
            <p:ph type="title"/>
          </p:nvPr>
        </p:nvSpPr>
        <p:spPr/>
        <p:txBody>
          <a:bodyPr/>
          <a:lstStyle/>
          <a:p>
            <a:endParaRPr lang="en-IT"/>
          </a:p>
        </p:txBody>
      </p:sp>
      <p:graphicFrame>
        <p:nvGraphicFramePr>
          <p:cNvPr id="3" name="Table 2">
            <a:extLst>
              <a:ext uri="{FF2B5EF4-FFF2-40B4-BE49-F238E27FC236}">
                <a16:creationId xmlns:a16="http://schemas.microsoft.com/office/drawing/2014/main" id="{5D4C9675-268D-9702-ABDF-67558C2AF1C8}"/>
              </a:ext>
            </a:extLst>
          </p:cNvPr>
          <p:cNvGraphicFramePr>
            <a:graphicFrameLocks noGrp="1"/>
          </p:cNvGraphicFramePr>
          <p:nvPr>
            <p:extLst>
              <p:ext uri="{D42A27DB-BD31-4B8C-83A1-F6EECF244321}">
                <p14:modId xmlns:p14="http://schemas.microsoft.com/office/powerpoint/2010/main" val="208831180"/>
              </p:ext>
            </p:extLst>
          </p:nvPr>
        </p:nvGraphicFramePr>
        <p:xfrm>
          <a:off x="705084" y="83127"/>
          <a:ext cx="11369152" cy="6583680"/>
        </p:xfrm>
        <a:graphic>
          <a:graphicData uri="http://schemas.openxmlformats.org/drawingml/2006/table">
            <a:tbl>
              <a:tblPr firstRow="1" firstCol="1" bandRow="1">
                <a:tableStyleId>{5C22544A-7EE6-4342-B048-85BDC9FD1C3A}</a:tableStyleId>
              </a:tblPr>
              <a:tblGrid>
                <a:gridCol w="6766638">
                  <a:extLst>
                    <a:ext uri="{9D8B030D-6E8A-4147-A177-3AD203B41FA5}">
                      <a16:colId xmlns:a16="http://schemas.microsoft.com/office/drawing/2014/main" val="4195473196"/>
                    </a:ext>
                  </a:extLst>
                </a:gridCol>
                <a:gridCol w="814831">
                  <a:extLst>
                    <a:ext uri="{9D8B030D-6E8A-4147-A177-3AD203B41FA5}">
                      <a16:colId xmlns:a16="http://schemas.microsoft.com/office/drawing/2014/main" val="3604420864"/>
                    </a:ext>
                  </a:extLst>
                </a:gridCol>
                <a:gridCol w="3787683">
                  <a:extLst>
                    <a:ext uri="{9D8B030D-6E8A-4147-A177-3AD203B41FA5}">
                      <a16:colId xmlns:a16="http://schemas.microsoft.com/office/drawing/2014/main" val="2293628385"/>
                    </a:ext>
                  </a:extLst>
                </a:gridCol>
              </a:tblGrid>
              <a:tr h="4143670">
                <a:tc>
                  <a:txBody>
                    <a:bodyPr/>
                    <a:lstStyle/>
                    <a:p>
                      <a:r>
                        <a:rPr lang="en-IT" sz="1800" kern="100" dirty="0">
                          <a:solidFill>
                            <a:schemeClr val="tx1"/>
                          </a:solidFill>
                          <a:effectLst/>
                        </a:rPr>
                        <a:t>I’m concerned someone might reuse my work and get the credit. </a:t>
                      </a:r>
                    </a:p>
                    <a:p>
                      <a:r>
                        <a:rPr lang="en-IT" sz="1800" kern="100" dirty="0">
                          <a:solidFill>
                            <a:schemeClr val="tx1"/>
                          </a:solidFill>
                          <a:effectLst/>
                        </a:rPr>
                        <a:t> </a:t>
                      </a:r>
                    </a:p>
                    <a:p>
                      <a:r>
                        <a:rPr lang="en-IT" sz="1800" kern="100" dirty="0">
                          <a:solidFill>
                            <a:schemeClr val="tx1"/>
                          </a:solidFill>
                          <a:effectLst/>
                        </a:rPr>
                        <a:t>Choose the mitigation strategy that best fits the concern above.</a:t>
                      </a:r>
                    </a:p>
                    <a:p>
                      <a:r>
                        <a:rPr lang="en-IT" sz="1800" kern="100" dirty="0">
                          <a:solidFill>
                            <a:schemeClr val="tx1"/>
                          </a:solidFill>
                          <a:effectLst/>
                        </a:rPr>
                        <a:t> </a:t>
                      </a:r>
                    </a:p>
                    <a:p>
                      <a:r>
                        <a:rPr lang="en-IT" sz="1800" kern="100" dirty="0">
                          <a:solidFill>
                            <a:schemeClr val="tx1"/>
                          </a:solidFill>
                          <a:effectLst/>
                        </a:rPr>
                        <a:t>-Allow a peer to review your work and correct any mistakes. </a:t>
                      </a:r>
                    </a:p>
                    <a:p>
                      <a:r>
                        <a:rPr lang="en-IT" sz="1800" kern="100" dirty="0">
                          <a:solidFill>
                            <a:schemeClr val="tx1"/>
                          </a:solidFill>
                          <a:effectLst/>
                        </a:rPr>
                        <a:t> </a:t>
                      </a:r>
                    </a:p>
                    <a:p>
                      <a:r>
                        <a:rPr lang="en-US" sz="1800" kern="100" dirty="0">
                          <a:solidFill>
                            <a:schemeClr val="tx1"/>
                          </a:solidFill>
                          <a:effectLst/>
                        </a:rPr>
                        <a:t>-</a:t>
                      </a:r>
                      <a:r>
                        <a:rPr lang="en-IT" sz="1800" kern="100" dirty="0">
                          <a:solidFill>
                            <a:schemeClr val="tx1"/>
                          </a:solidFill>
                          <a:effectLst/>
                        </a:rPr>
                        <a:t>Make it difficult for others to cite your work. </a:t>
                      </a:r>
                    </a:p>
                    <a:p>
                      <a:r>
                        <a:rPr lang="en-IT" sz="1800" kern="100" dirty="0">
                          <a:solidFill>
                            <a:schemeClr val="tx1"/>
                          </a:solidFill>
                          <a:effectLst/>
                        </a:rPr>
                        <a:t> </a:t>
                      </a:r>
                    </a:p>
                    <a:p>
                      <a:r>
                        <a:rPr lang="en-US" sz="1800" kern="100" dirty="0">
                          <a:solidFill>
                            <a:schemeClr val="tx1"/>
                          </a:solidFill>
                          <a:effectLst/>
                        </a:rPr>
                        <a:t>-</a:t>
                      </a:r>
                      <a:r>
                        <a:rPr lang="en-IT" sz="1800" kern="100" dirty="0">
                          <a:solidFill>
                            <a:schemeClr val="tx1"/>
                          </a:solidFill>
                          <a:effectLst/>
                        </a:rPr>
                        <a:t>Deposit your work early, such as by making a preprint available, and give your data or code a DOI and license. </a:t>
                      </a:r>
                    </a:p>
                    <a:p>
                      <a:r>
                        <a:rPr lang="en-IT" sz="1800" kern="100" dirty="0">
                          <a:solidFill>
                            <a:schemeClr val="tx1"/>
                          </a:solidFill>
                          <a:effectLst/>
                        </a:rPr>
                        <a:t> </a:t>
                      </a:r>
                    </a:p>
                    <a:p>
                      <a:r>
                        <a:rPr lang="en-US" sz="1800" kern="100" dirty="0">
                          <a:solidFill>
                            <a:schemeClr val="tx1"/>
                          </a:solidFill>
                          <a:effectLst/>
                        </a:rPr>
                        <a:t>-</a:t>
                      </a:r>
                      <a:r>
                        <a:rPr lang="en-IT" sz="1800" kern="100" dirty="0">
                          <a:solidFill>
                            <a:schemeClr val="tx1"/>
                          </a:solidFill>
                          <a:effectLst/>
                        </a:rPr>
                        <a:t>Provide appropriate documentation for your research products, including descriptions of the data or code, with usage instructions and examples to help others fully understand your work. </a:t>
                      </a:r>
                    </a:p>
                    <a:p>
                      <a:r>
                        <a:rPr lang="en-IT" sz="1800" kern="100" dirty="0">
                          <a:solidFill>
                            <a:schemeClr val="tx1"/>
                          </a:solidFill>
                          <a:effectLst/>
                        </a:rPr>
                        <a:t> </a:t>
                      </a:r>
                      <a:endParaRPr lang="en-IT" sz="180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14440" marR="14440" marT="0" marB="0">
                    <a:solidFill>
                      <a:schemeClr val="accent5">
                        <a:lumMod val="20000"/>
                        <a:lumOff val="80000"/>
                      </a:schemeClr>
                    </a:solidFill>
                  </a:tcPr>
                </a:tc>
                <a:tc>
                  <a:txBody>
                    <a:bodyPr/>
                    <a:lstStyle/>
                    <a:p>
                      <a:r>
                        <a:rPr lang="en-IT" sz="1800" kern="100">
                          <a:solidFill>
                            <a:schemeClr val="tx1"/>
                          </a:solidFill>
                          <a:effectLst/>
                        </a:rPr>
                        <a:t> </a:t>
                      </a:r>
                      <a:endParaRPr lang="en-IT" sz="1800" kern="10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14440" marR="14440" marT="0" marB="0">
                    <a:solidFill>
                      <a:schemeClr val="accent5">
                        <a:lumMod val="20000"/>
                        <a:lumOff val="80000"/>
                      </a:schemeClr>
                    </a:solidFill>
                  </a:tcPr>
                </a:tc>
                <a:tc>
                  <a:txBody>
                    <a:bodyPr/>
                    <a:lstStyle/>
                    <a:p>
                      <a:r>
                        <a:rPr lang="en-IT" sz="1800" kern="100" dirty="0">
                          <a:solidFill>
                            <a:schemeClr val="tx1"/>
                          </a:solidFill>
                          <a:effectLst/>
                        </a:rPr>
                        <a:t>By depositing your work early, such as making a preprint available before official publication, and assigning your data or code a DOI and license are ways that you can help to protect your work from being reused by others without giving you credit.</a:t>
                      </a:r>
                    </a:p>
                    <a:p>
                      <a:r>
                        <a:rPr lang="en-IT" sz="1800" kern="100" dirty="0">
                          <a:solidFill>
                            <a:schemeClr val="tx1"/>
                          </a:solidFill>
                          <a:effectLst/>
                        </a:rPr>
                        <a:t> </a:t>
                      </a:r>
                      <a:endParaRPr lang="en-IT" sz="180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14440" marR="14440" marT="0" marB="0">
                    <a:solidFill>
                      <a:schemeClr val="accent5">
                        <a:lumMod val="20000"/>
                        <a:lumOff val="80000"/>
                      </a:schemeClr>
                    </a:solidFill>
                  </a:tcPr>
                </a:tc>
                <a:extLst>
                  <a:ext uri="{0D108BD9-81ED-4DB2-BD59-A6C34878D82A}">
                    <a16:rowId xmlns:a16="http://schemas.microsoft.com/office/drawing/2014/main" val="889721394"/>
                  </a:ext>
                </a:extLst>
              </a:tr>
              <a:tr h="1462471">
                <a:tc>
                  <a:txBody>
                    <a:bodyPr/>
                    <a:lstStyle/>
                    <a:p>
                      <a:r>
                        <a:rPr lang="en-IT" sz="1800" kern="100" dirty="0">
                          <a:solidFill>
                            <a:schemeClr val="tx1"/>
                          </a:solidFill>
                          <a:effectLst/>
                        </a:rPr>
                        <a:t>Institutions always recognize open science practices when recruiting job candidates and providing training to employees. </a:t>
                      </a:r>
                    </a:p>
                    <a:p>
                      <a:r>
                        <a:rPr lang="en-IT" sz="1800" kern="100" dirty="0">
                          <a:solidFill>
                            <a:schemeClr val="tx1"/>
                          </a:solidFill>
                          <a:effectLst/>
                        </a:rPr>
                        <a:t>Decide whether the statement above is true or false.</a:t>
                      </a:r>
                    </a:p>
                    <a:p>
                      <a:pPr algn="ctr"/>
                      <a:r>
                        <a:rPr lang="en-IT" sz="1800" kern="100" dirty="0">
                          <a:solidFill>
                            <a:schemeClr val="tx1"/>
                          </a:solidFill>
                          <a:effectLst/>
                        </a:rPr>
                        <a:t> </a:t>
                      </a:r>
                      <a:endParaRPr lang="en-IT" sz="180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14440" marR="14440" marT="0" marB="0">
                    <a:solidFill>
                      <a:schemeClr val="bg2">
                        <a:lumMod val="90000"/>
                      </a:schemeClr>
                    </a:solidFill>
                  </a:tcPr>
                </a:tc>
                <a:tc>
                  <a:txBody>
                    <a:bodyPr/>
                    <a:lstStyle/>
                    <a:p>
                      <a:r>
                        <a:rPr lang="en-US" sz="1800" kern="100">
                          <a:solidFill>
                            <a:schemeClr val="tx1"/>
                          </a:solidFill>
                          <a:effectLst/>
                        </a:rPr>
                        <a:t>False</a:t>
                      </a:r>
                      <a:endParaRPr lang="en-IT" sz="1800" kern="10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14440" marR="14440" marT="0" marB="0"/>
                </a:tc>
                <a:tc>
                  <a:txBody>
                    <a:bodyPr/>
                    <a:lstStyle/>
                    <a:p>
                      <a:r>
                        <a:rPr lang="en-IT" sz="1800" kern="100" dirty="0">
                          <a:solidFill>
                            <a:schemeClr val="tx1"/>
                          </a:solidFill>
                          <a:effectLst/>
                        </a:rPr>
                        <a:t>Institutions do not always recognize open science practices when recruiting job candidates and providing training to employees. This can create institutional barriers to individuals wishing to practice open science.</a:t>
                      </a:r>
                    </a:p>
                    <a:p>
                      <a:r>
                        <a:rPr lang="en-IT" sz="1800" kern="100" dirty="0">
                          <a:solidFill>
                            <a:schemeClr val="tx1"/>
                          </a:solidFill>
                          <a:effectLst/>
                        </a:rPr>
                        <a:t> </a:t>
                      </a:r>
                      <a:endParaRPr lang="en-IT" sz="180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14440" marR="14440" marT="0" marB="0"/>
                </a:tc>
                <a:extLst>
                  <a:ext uri="{0D108BD9-81ED-4DB2-BD59-A6C34878D82A}">
                    <a16:rowId xmlns:a16="http://schemas.microsoft.com/office/drawing/2014/main" val="2179333061"/>
                  </a:ext>
                </a:extLst>
              </a:tr>
            </a:tbl>
          </a:graphicData>
        </a:graphic>
      </p:graphicFrame>
    </p:spTree>
    <p:extLst>
      <p:ext uri="{BB962C8B-B14F-4D97-AF65-F5344CB8AC3E}">
        <p14:creationId xmlns:p14="http://schemas.microsoft.com/office/powerpoint/2010/main" val="29686920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66D10A9-7DB4-4297-230E-F6CC42DB9684}"/>
              </a:ext>
            </a:extLst>
          </p:cNvPr>
          <p:cNvGraphicFramePr>
            <a:graphicFrameLocks noGrp="1"/>
          </p:cNvGraphicFramePr>
          <p:nvPr>
            <p:extLst>
              <p:ext uri="{D42A27DB-BD31-4B8C-83A1-F6EECF244321}">
                <p14:modId xmlns:p14="http://schemas.microsoft.com/office/powerpoint/2010/main" val="28812075"/>
              </p:ext>
            </p:extLst>
          </p:nvPr>
        </p:nvGraphicFramePr>
        <p:xfrm>
          <a:off x="838199" y="533400"/>
          <a:ext cx="10758055" cy="5791200"/>
        </p:xfrm>
        <a:graphic>
          <a:graphicData uri="http://schemas.openxmlformats.org/drawingml/2006/table">
            <a:tbl>
              <a:tblPr firstRow="1" firstCol="1" bandRow="1">
                <a:tableStyleId>{5C22544A-7EE6-4342-B048-85BDC9FD1C3A}</a:tableStyleId>
              </a:tblPr>
              <a:tblGrid>
                <a:gridCol w="5635337">
                  <a:extLst>
                    <a:ext uri="{9D8B030D-6E8A-4147-A177-3AD203B41FA5}">
                      <a16:colId xmlns:a16="http://schemas.microsoft.com/office/drawing/2014/main" val="700597009"/>
                    </a:ext>
                  </a:extLst>
                </a:gridCol>
                <a:gridCol w="1538624">
                  <a:extLst>
                    <a:ext uri="{9D8B030D-6E8A-4147-A177-3AD203B41FA5}">
                      <a16:colId xmlns:a16="http://schemas.microsoft.com/office/drawing/2014/main" val="2974100015"/>
                    </a:ext>
                  </a:extLst>
                </a:gridCol>
                <a:gridCol w="3584094">
                  <a:extLst>
                    <a:ext uri="{9D8B030D-6E8A-4147-A177-3AD203B41FA5}">
                      <a16:colId xmlns:a16="http://schemas.microsoft.com/office/drawing/2014/main" val="2892602472"/>
                    </a:ext>
                  </a:extLst>
                </a:gridCol>
              </a:tblGrid>
              <a:tr h="2227551">
                <a:tc>
                  <a:txBody>
                    <a:bodyPr/>
                    <a:lstStyle/>
                    <a:p>
                      <a:r>
                        <a:rPr lang="en-IT" sz="2000" b="0" kern="100" dirty="0">
                          <a:solidFill>
                            <a:schemeClr val="tx1"/>
                          </a:solidFill>
                          <a:effectLst/>
                        </a:rPr>
                        <a:t>Before starting a project, it is important for researchers to consider how they will collaborate with other researchers, what are the roles and responsibilities, and how and when they will share any materials. </a:t>
                      </a:r>
                    </a:p>
                    <a:p>
                      <a:r>
                        <a:rPr lang="en-IT" sz="2000" b="0" kern="100" dirty="0">
                          <a:solidFill>
                            <a:schemeClr val="tx1"/>
                          </a:solidFill>
                          <a:effectLst/>
                        </a:rPr>
                        <a:t>Decide whether the statement above is true or false.</a:t>
                      </a:r>
                    </a:p>
                    <a:p>
                      <a:r>
                        <a:rPr lang="en-IT" sz="2000" b="0" kern="100" dirty="0">
                          <a:solidFill>
                            <a:schemeClr val="tx1"/>
                          </a:solidFill>
                          <a:effectLst/>
                        </a:rPr>
                        <a:t> </a:t>
                      </a:r>
                      <a:endParaRPr lang="en-IT" sz="2000" b="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14440" marR="14440" marT="0" marB="0">
                    <a:solidFill>
                      <a:schemeClr val="bg2">
                        <a:lumMod val="90000"/>
                      </a:schemeClr>
                    </a:solidFill>
                  </a:tcPr>
                </a:tc>
                <a:tc>
                  <a:txBody>
                    <a:bodyPr/>
                    <a:lstStyle/>
                    <a:p>
                      <a:r>
                        <a:rPr lang="en-US" sz="2000" b="0" kern="100">
                          <a:solidFill>
                            <a:schemeClr val="tx1"/>
                          </a:solidFill>
                          <a:effectLst/>
                        </a:rPr>
                        <a:t>True</a:t>
                      </a:r>
                      <a:endParaRPr lang="en-IT" sz="2000" b="0" kern="10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14440" marR="14440" marT="0" marB="0">
                    <a:solidFill>
                      <a:schemeClr val="bg2">
                        <a:lumMod val="90000"/>
                      </a:schemeClr>
                    </a:solidFill>
                  </a:tcPr>
                </a:tc>
                <a:tc>
                  <a:txBody>
                    <a:bodyPr/>
                    <a:lstStyle/>
                    <a:p>
                      <a:r>
                        <a:rPr lang="en-IT" sz="2000" b="0" kern="100" dirty="0">
                          <a:solidFill>
                            <a:schemeClr val="tx1"/>
                          </a:solidFill>
                          <a:effectLst/>
                        </a:rPr>
                        <a:t>One of the most important parts of starting a project is thinking about who will work on it, how they will work together, the roles and responsibilities, and how and when they'll share any materials.</a:t>
                      </a:r>
                    </a:p>
                    <a:p>
                      <a:r>
                        <a:rPr lang="en-IT" sz="2000" b="0" kern="100" dirty="0">
                          <a:solidFill>
                            <a:schemeClr val="tx1"/>
                          </a:solidFill>
                          <a:effectLst/>
                        </a:rPr>
                        <a:t> </a:t>
                      </a:r>
                      <a:endParaRPr lang="en-IT" sz="2000" b="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14440" marR="14440" marT="0" marB="0">
                    <a:solidFill>
                      <a:schemeClr val="bg2">
                        <a:lumMod val="90000"/>
                      </a:schemeClr>
                    </a:solidFill>
                  </a:tcPr>
                </a:tc>
                <a:extLst>
                  <a:ext uri="{0D108BD9-81ED-4DB2-BD59-A6C34878D82A}">
                    <a16:rowId xmlns:a16="http://schemas.microsoft.com/office/drawing/2014/main" val="3390622634"/>
                  </a:ext>
                </a:extLst>
              </a:tr>
              <a:tr h="2439699">
                <a:tc>
                  <a:txBody>
                    <a:bodyPr/>
                    <a:lstStyle/>
                    <a:p>
                      <a:r>
                        <a:rPr lang="en-IT" sz="2000" b="0" kern="100" dirty="0">
                          <a:solidFill>
                            <a:schemeClr val="tx1"/>
                          </a:solidFill>
                          <a:effectLst/>
                        </a:rPr>
                        <a:t>Which is NOT a benefit of collaboration on an open software data-processing pipeline? </a:t>
                      </a:r>
                    </a:p>
                    <a:p>
                      <a:r>
                        <a:rPr lang="en-IT" sz="2000" b="0" kern="100" dirty="0">
                          <a:solidFill>
                            <a:schemeClr val="tx1"/>
                          </a:solidFill>
                          <a:effectLst/>
                        </a:rPr>
                        <a:t> </a:t>
                      </a:r>
                    </a:p>
                    <a:p>
                      <a:r>
                        <a:rPr lang="en-US" sz="2000" b="0" kern="100" dirty="0">
                          <a:solidFill>
                            <a:schemeClr val="tx1"/>
                          </a:solidFill>
                          <a:effectLst/>
                        </a:rPr>
                        <a:t>-</a:t>
                      </a:r>
                      <a:r>
                        <a:rPr lang="en-IT" sz="2000" b="0" kern="100" dirty="0">
                          <a:solidFill>
                            <a:schemeClr val="tx1"/>
                          </a:solidFill>
                          <a:effectLst/>
                        </a:rPr>
                        <a:t>Decreased duplicative efforts </a:t>
                      </a:r>
                    </a:p>
                    <a:p>
                      <a:r>
                        <a:rPr lang="en-IT" sz="2000" b="0" kern="100" dirty="0">
                          <a:solidFill>
                            <a:schemeClr val="tx1"/>
                          </a:solidFill>
                          <a:effectLst/>
                        </a:rPr>
                        <a:t> </a:t>
                      </a:r>
                    </a:p>
                    <a:p>
                      <a:r>
                        <a:rPr lang="en-US" sz="2000" b="0" kern="100" dirty="0">
                          <a:solidFill>
                            <a:schemeClr val="tx1"/>
                          </a:solidFill>
                          <a:effectLst/>
                        </a:rPr>
                        <a:t>-</a:t>
                      </a:r>
                      <a:r>
                        <a:rPr lang="en-IT" sz="2000" b="0" kern="100" dirty="0">
                          <a:solidFill>
                            <a:schemeClr val="tx1"/>
                          </a:solidFill>
                          <a:effectLst/>
                        </a:rPr>
                        <a:t>Contributors get credit for their work </a:t>
                      </a:r>
                    </a:p>
                    <a:p>
                      <a:r>
                        <a:rPr lang="en-IT" sz="2000" b="0" kern="100" dirty="0">
                          <a:solidFill>
                            <a:schemeClr val="tx1"/>
                          </a:solidFill>
                          <a:effectLst/>
                        </a:rPr>
                        <a:t> </a:t>
                      </a:r>
                    </a:p>
                    <a:p>
                      <a:r>
                        <a:rPr lang="en-US" sz="2000" b="0" kern="100" dirty="0">
                          <a:solidFill>
                            <a:schemeClr val="tx1"/>
                          </a:solidFill>
                          <a:effectLst/>
                        </a:rPr>
                        <a:t>-</a:t>
                      </a:r>
                      <a:r>
                        <a:rPr lang="en-IT" sz="2000" b="0" kern="100" dirty="0">
                          <a:solidFill>
                            <a:schemeClr val="tx1"/>
                          </a:solidFill>
                          <a:effectLst/>
                        </a:rPr>
                        <a:t>Decelerated data wrangling process </a:t>
                      </a:r>
                    </a:p>
                    <a:p>
                      <a:r>
                        <a:rPr lang="en-IT" sz="2000" b="0" kern="100" dirty="0">
                          <a:solidFill>
                            <a:schemeClr val="tx1"/>
                          </a:solidFill>
                          <a:effectLst/>
                        </a:rPr>
                        <a:t> </a:t>
                      </a:r>
                    </a:p>
                    <a:p>
                      <a:r>
                        <a:rPr lang="en-US" sz="2000" b="0" kern="100" dirty="0">
                          <a:solidFill>
                            <a:schemeClr val="tx1"/>
                          </a:solidFill>
                          <a:effectLst/>
                        </a:rPr>
                        <a:t>-</a:t>
                      </a:r>
                      <a:r>
                        <a:rPr lang="en-IT" sz="2000" b="0" kern="100" dirty="0">
                          <a:solidFill>
                            <a:schemeClr val="tx1"/>
                          </a:solidFill>
                          <a:effectLst/>
                        </a:rPr>
                        <a:t>More accurate software </a:t>
                      </a:r>
                    </a:p>
                    <a:p>
                      <a:r>
                        <a:rPr lang="en-IT" sz="2000" b="0" kern="100" dirty="0">
                          <a:solidFill>
                            <a:schemeClr val="tx1"/>
                          </a:solidFill>
                          <a:effectLst/>
                        </a:rPr>
                        <a:t> </a:t>
                      </a:r>
                      <a:endParaRPr lang="en-IT" sz="2000" b="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14440" marR="14440" marT="0" marB="0">
                    <a:solidFill>
                      <a:schemeClr val="tx2">
                        <a:lumMod val="10000"/>
                        <a:lumOff val="90000"/>
                      </a:schemeClr>
                    </a:solidFill>
                  </a:tcPr>
                </a:tc>
                <a:tc>
                  <a:txBody>
                    <a:bodyPr/>
                    <a:lstStyle/>
                    <a:p>
                      <a:r>
                        <a:rPr lang="en-IT" sz="2000" b="0" kern="100">
                          <a:solidFill>
                            <a:schemeClr val="tx1"/>
                          </a:solidFill>
                          <a:effectLst/>
                        </a:rPr>
                        <a:t>Decelerated data wrangling process</a:t>
                      </a:r>
                      <a:endParaRPr lang="en-IT" sz="2000" b="0" kern="10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14440" marR="14440" marT="0" marB="0">
                    <a:solidFill>
                      <a:schemeClr val="tx2">
                        <a:lumMod val="10000"/>
                        <a:lumOff val="90000"/>
                      </a:schemeClr>
                    </a:solidFill>
                  </a:tcPr>
                </a:tc>
                <a:tc>
                  <a:txBody>
                    <a:bodyPr/>
                    <a:lstStyle/>
                    <a:p>
                      <a:r>
                        <a:rPr lang="en-IT" sz="2000" b="0" kern="100" dirty="0">
                          <a:solidFill>
                            <a:schemeClr val="tx1"/>
                          </a:solidFill>
                          <a:effectLst/>
                        </a:rPr>
                        <a:t>Decelerated data wrangling process is not a benefit.</a:t>
                      </a:r>
                    </a:p>
                    <a:p>
                      <a:r>
                        <a:rPr lang="en-IT" sz="2000" b="0" kern="100" dirty="0">
                          <a:solidFill>
                            <a:schemeClr val="tx1"/>
                          </a:solidFill>
                          <a:effectLst/>
                        </a:rPr>
                        <a:t> </a:t>
                      </a:r>
                      <a:endParaRPr lang="en-IT" sz="2000" b="0" kern="1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14440" marR="14440" marT="0" marB="0">
                    <a:solidFill>
                      <a:schemeClr val="tx2">
                        <a:lumMod val="10000"/>
                        <a:lumOff val="90000"/>
                      </a:schemeClr>
                    </a:solidFill>
                  </a:tcPr>
                </a:tc>
                <a:extLst>
                  <a:ext uri="{0D108BD9-81ED-4DB2-BD59-A6C34878D82A}">
                    <a16:rowId xmlns:a16="http://schemas.microsoft.com/office/drawing/2014/main" val="3448614146"/>
                  </a:ext>
                </a:extLst>
              </a:tr>
            </a:tbl>
          </a:graphicData>
        </a:graphic>
      </p:graphicFrame>
    </p:spTree>
    <p:extLst>
      <p:ext uri="{BB962C8B-B14F-4D97-AF65-F5344CB8AC3E}">
        <p14:creationId xmlns:p14="http://schemas.microsoft.com/office/powerpoint/2010/main" val="14528027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88999-CCD8-EA2D-CC60-A7C7A2EB7B22}"/>
              </a:ext>
            </a:extLst>
          </p:cNvPr>
          <p:cNvSpPr>
            <a:spLocks noGrp="1"/>
          </p:cNvSpPr>
          <p:nvPr>
            <p:ph type="title"/>
          </p:nvPr>
        </p:nvSpPr>
        <p:spPr/>
        <p:txBody>
          <a:bodyPr/>
          <a:lstStyle/>
          <a:p>
            <a:r>
              <a:rPr lang="en-GB" dirty="0" err="1"/>
              <a:t>S6</a:t>
            </a:r>
            <a:r>
              <a:rPr lang="en-GB" dirty="0"/>
              <a:t>: Obtaining the ‘Ethos of Open Science’ badge</a:t>
            </a:r>
            <a:endParaRPr lang="en-IT" dirty="0"/>
          </a:p>
        </p:txBody>
      </p:sp>
      <p:sp>
        <p:nvSpPr>
          <p:cNvPr id="3" name="Content Placeholder 2">
            <a:extLst>
              <a:ext uri="{FF2B5EF4-FFF2-40B4-BE49-F238E27FC236}">
                <a16:creationId xmlns:a16="http://schemas.microsoft.com/office/drawing/2014/main" id="{2F78FEEA-457F-3FDF-20C8-C8D36570520A}"/>
              </a:ext>
            </a:extLst>
          </p:cNvPr>
          <p:cNvSpPr>
            <a:spLocks noGrp="1"/>
          </p:cNvSpPr>
          <p:nvPr>
            <p:ph idx="1"/>
          </p:nvPr>
        </p:nvSpPr>
        <p:spPr/>
        <p:txBody>
          <a:bodyPr/>
          <a:lstStyle/>
          <a:p>
            <a:r>
              <a:rPr lang="en-IT" dirty="0"/>
              <a:t>TOPS 101 site and online training registration</a:t>
            </a:r>
          </a:p>
          <a:p>
            <a:r>
              <a:rPr lang="en-IT" dirty="0"/>
              <a:t>ORCHID ID</a:t>
            </a:r>
          </a:p>
          <a:p>
            <a:r>
              <a:rPr lang="en-IT" dirty="0"/>
              <a:t>Opening and completing the online training module</a:t>
            </a:r>
          </a:p>
          <a:p>
            <a:endParaRPr lang="en-IT" dirty="0"/>
          </a:p>
        </p:txBody>
      </p:sp>
    </p:spTree>
    <p:extLst>
      <p:ext uri="{BB962C8B-B14F-4D97-AF65-F5344CB8AC3E}">
        <p14:creationId xmlns:p14="http://schemas.microsoft.com/office/powerpoint/2010/main" val="2199860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3A846-AF09-AA1D-BD6D-87C665CD48B3}"/>
              </a:ext>
            </a:extLst>
          </p:cNvPr>
          <p:cNvSpPr>
            <a:spLocks noGrp="1"/>
          </p:cNvSpPr>
          <p:nvPr>
            <p:ph type="title"/>
          </p:nvPr>
        </p:nvSpPr>
        <p:spPr/>
        <p:txBody>
          <a:bodyPr/>
          <a:lstStyle/>
          <a:p>
            <a:r>
              <a:rPr lang="en-GB" dirty="0" err="1"/>
              <a:t>S7</a:t>
            </a:r>
            <a:r>
              <a:rPr lang="en-GB" dirty="0"/>
              <a:t>: Structured reflection:</a:t>
            </a:r>
            <a:endParaRPr lang="en-IT" dirty="0"/>
          </a:p>
        </p:txBody>
      </p:sp>
      <p:sp>
        <p:nvSpPr>
          <p:cNvPr id="3" name="Content Placeholder 2">
            <a:extLst>
              <a:ext uri="{FF2B5EF4-FFF2-40B4-BE49-F238E27FC236}">
                <a16:creationId xmlns:a16="http://schemas.microsoft.com/office/drawing/2014/main" id="{6A6AAB8A-9B95-3916-CC7E-113B9A70AB10}"/>
              </a:ext>
            </a:extLst>
          </p:cNvPr>
          <p:cNvSpPr>
            <a:spLocks noGrp="1"/>
          </p:cNvSpPr>
          <p:nvPr>
            <p:ph idx="1"/>
          </p:nvPr>
        </p:nvSpPr>
        <p:spPr/>
        <p:txBody>
          <a:bodyPr/>
          <a:lstStyle/>
          <a:p>
            <a:r>
              <a:rPr lang="en-GB" dirty="0"/>
              <a:t>How much work needs to be done to ensure OS advances </a:t>
            </a:r>
            <a:r>
              <a:rPr lang="en-GB" dirty="0" err="1"/>
              <a:t>EJ</a:t>
            </a:r>
            <a:r>
              <a:rPr lang="en-GB" dirty="0"/>
              <a:t>?</a:t>
            </a:r>
          </a:p>
          <a:p>
            <a:r>
              <a:rPr lang="en-GB" dirty="0"/>
              <a:t>What can we plan for and contribute to? Who should we engage to address larger issues?</a:t>
            </a:r>
          </a:p>
          <a:p>
            <a:r>
              <a:rPr lang="en-GB" dirty="0"/>
              <a:t>What are next steps for </a:t>
            </a:r>
            <a:r>
              <a:rPr lang="en-GB" dirty="0" err="1"/>
              <a:t>AGEJLE</a:t>
            </a:r>
            <a:r>
              <a:rPr lang="en-GB" dirty="0"/>
              <a:t>-OS cohorts?</a:t>
            </a:r>
          </a:p>
          <a:p>
            <a:endParaRPr lang="en-GB" dirty="0"/>
          </a:p>
          <a:p>
            <a:endParaRPr lang="en-IT" dirty="0"/>
          </a:p>
        </p:txBody>
      </p:sp>
    </p:spTree>
    <p:extLst>
      <p:ext uri="{BB962C8B-B14F-4D97-AF65-F5344CB8AC3E}">
        <p14:creationId xmlns:p14="http://schemas.microsoft.com/office/powerpoint/2010/main" val="3144084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7257</TotalTime>
  <Words>2393</Words>
  <Application>Microsoft Macintosh PowerPoint</Application>
  <PresentationFormat>Widescreen</PresentationFormat>
  <Paragraphs>292</Paragraphs>
  <Slides>34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Aptos Display</vt:lpstr>
      <vt:lpstr>Arial</vt:lpstr>
      <vt:lpstr>Calibri</vt:lpstr>
      <vt:lpstr>Helvetica</vt:lpstr>
      <vt:lpstr>Office Theme</vt:lpstr>
      <vt:lpstr>Advancing Gulf Coast Environmental Justice Leadership &amp; Engagement in Open Science (AGEJLE-OS)</vt:lpstr>
      <vt:lpstr>Agenda</vt:lpstr>
      <vt:lpstr>Opening</vt:lpstr>
      <vt:lpstr>Purpose and agenda</vt:lpstr>
      <vt:lpstr>Agenda with timing</vt:lpstr>
      <vt:lpstr>S1: Truth, Justice, Beauty – how can openness improve science and advance EJ</vt:lpstr>
      <vt:lpstr>PowerPoint Presentation</vt:lpstr>
      <vt:lpstr>S1: Term sorting (put words on postits to sort)</vt:lpstr>
      <vt:lpstr>S1: continued</vt:lpstr>
      <vt:lpstr>S1: Continued</vt:lpstr>
      <vt:lpstr>S1: cont</vt:lpstr>
      <vt:lpstr>S1: test</vt:lpstr>
      <vt:lpstr>S2: Misinformation is free</vt:lpstr>
      <vt:lpstr>Characteristics, Consequences, Equity of benefits </vt:lpstr>
      <vt:lpstr>Benefits for EJ of </vt:lpstr>
      <vt:lpstr>S2:test</vt:lpstr>
      <vt:lpstr>S3: More ‘we’ science and less ‘me’ science</vt:lpstr>
      <vt:lpstr>PowerPoint Presentation</vt:lpstr>
      <vt:lpstr>PowerPoint Presentation</vt:lpstr>
      <vt:lpstr>Flip chart with</vt:lpstr>
      <vt:lpstr>S3: test</vt:lpstr>
      <vt:lpstr>PowerPoint Presentation</vt:lpstr>
      <vt:lpstr>S4: Protecting privacy and promote data security with different legal tools and guidance on acceptable ways of working </vt:lpstr>
      <vt:lpstr>S4: test</vt:lpstr>
      <vt:lpstr>S5: Lowering barriers and planning for Open Science</vt:lpstr>
      <vt:lpstr>Open science and EJ</vt:lpstr>
      <vt:lpstr>PowerPoint Presentation</vt:lpstr>
      <vt:lpstr>PowerPoint Presentation</vt:lpstr>
      <vt:lpstr> Steps to Open Science that Anyone Can Take </vt:lpstr>
      <vt:lpstr>S5 Test</vt:lpstr>
      <vt:lpstr>PowerPoint Presentation</vt:lpstr>
      <vt:lpstr>PowerPoint Presentation</vt:lpstr>
      <vt:lpstr>S6: Obtaining the ‘Ethos of Open Science’ badge</vt:lpstr>
      <vt:lpstr>S7: Structured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Advancing Gulf Coast Environmental Justice Leadership &amp; Engagement in Open Science (AGEJLE-OS)</dc:title>
  <dc:creator>Morrow, Nathan L</dc:creator>
  <cp:lastModifiedBy>Morrow, Nathan L</cp:lastModifiedBy>
  <cp:revision>11</cp:revision>
  <dcterms:created xsi:type="dcterms:W3CDTF">2024-02-11T13:50:01Z</dcterms:created>
  <dcterms:modified xsi:type="dcterms:W3CDTF">2024-02-16T14:47:43Z</dcterms:modified>
</cp:coreProperties>
</file>